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9.jpg" ContentType="image/jpg"/>
  <Override PartName="/ppt/media/image10.jpg" ContentType="image/jpg"/>
  <Override PartName="/ppt/media/image11.jpg" ContentType="image/jpg"/>
  <Override PartName="/ppt/media/image12.jpg" ContentType="image/jpg"/>
  <Override PartName="/ppt/media/image15.jpg" ContentType="image/jp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691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064454" y="3551981"/>
            <a:ext cx="15855950" cy="21303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450" b="0" i="0">
                <a:solidFill>
                  <a:srgbClr val="11111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4608180" y="6368650"/>
            <a:ext cx="10887738" cy="11596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50" b="0" i="0">
                <a:solidFill>
                  <a:srgbClr val="343434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450" b="0" i="0">
                <a:solidFill>
                  <a:srgbClr val="11111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550" b="0" i="0">
                <a:solidFill>
                  <a:srgbClr val="343434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450" b="0" i="0">
                <a:solidFill>
                  <a:srgbClr val="11111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450" b="0" i="0">
                <a:solidFill>
                  <a:srgbClr val="11111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1135786"/>
            <a:ext cx="20104100" cy="17276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97495" y="824970"/>
            <a:ext cx="14852015" cy="1046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450" b="0" i="0">
                <a:solidFill>
                  <a:srgbClr val="11111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71503" y="3798701"/>
            <a:ext cx="15911830" cy="4907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50" b="0" i="0">
                <a:solidFill>
                  <a:srgbClr val="343434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g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jp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56952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150" spc="-220" dirty="0">
                <a:solidFill>
                  <a:srgbClr val="089587"/>
                </a:solidFill>
                <a:latin typeface="Arial MT"/>
                <a:cs typeface="Arial MT"/>
              </a:rPr>
              <a:t>Fog-</a:t>
            </a:r>
            <a:r>
              <a:rPr sz="10150" spc="-140" dirty="0" err="1">
                <a:solidFill>
                  <a:srgbClr val="089587"/>
                </a:solidFill>
                <a:latin typeface="Arial MT"/>
                <a:cs typeface="Arial MT"/>
              </a:rPr>
              <a:t>En</a:t>
            </a:r>
            <a:r>
              <a:rPr lang="en-US" sz="10150" spc="-140" dirty="0" err="1">
                <a:solidFill>
                  <a:srgbClr val="089587"/>
                </a:solidFill>
                <a:latin typeface="Arial MT"/>
                <a:cs typeface="Arial MT"/>
              </a:rPr>
              <a:t>a</a:t>
            </a:r>
            <a:r>
              <a:rPr sz="10150" spc="-140" dirty="0" err="1">
                <a:solidFill>
                  <a:srgbClr val="089587"/>
                </a:solidFill>
                <a:latin typeface="Arial MT"/>
                <a:cs typeface="Arial MT"/>
              </a:rPr>
              <a:t>bIed</a:t>
            </a:r>
            <a:r>
              <a:rPr sz="10150" spc="-484" dirty="0">
                <a:solidFill>
                  <a:srgbClr val="089587"/>
                </a:solidFill>
                <a:latin typeface="Arial MT"/>
                <a:cs typeface="Arial MT"/>
              </a:rPr>
              <a:t> </a:t>
            </a:r>
            <a:r>
              <a:rPr sz="10150" dirty="0">
                <a:solidFill>
                  <a:srgbClr val="0C9387"/>
                </a:solidFill>
                <a:latin typeface="Arial MT"/>
                <a:cs typeface="Arial MT"/>
              </a:rPr>
              <a:t>Sm</a:t>
            </a:r>
            <a:r>
              <a:rPr lang="en-US" sz="10150" dirty="0">
                <a:solidFill>
                  <a:srgbClr val="0C9387"/>
                </a:solidFill>
                <a:latin typeface="Arial MT"/>
                <a:cs typeface="Arial MT"/>
              </a:rPr>
              <a:t>a</a:t>
            </a:r>
            <a:r>
              <a:rPr sz="10150" dirty="0">
                <a:solidFill>
                  <a:srgbClr val="0C9387"/>
                </a:solidFill>
                <a:latin typeface="Arial MT"/>
                <a:cs typeface="Arial MT"/>
              </a:rPr>
              <a:t>rt</a:t>
            </a:r>
            <a:r>
              <a:rPr sz="10150" spc="-705" dirty="0">
                <a:solidFill>
                  <a:srgbClr val="0C9387"/>
                </a:solidFill>
                <a:latin typeface="Arial MT"/>
                <a:cs typeface="Arial MT"/>
              </a:rPr>
              <a:t> </a:t>
            </a:r>
            <a:r>
              <a:rPr sz="10150" spc="-55" dirty="0">
                <a:solidFill>
                  <a:srgbClr val="0C9387"/>
                </a:solidFill>
                <a:latin typeface="Arial MT"/>
                <a:cs typeface="Arial MT"/>
              </a:rPr>
              <a:t>Security</a:t>
            </a:r>
            <a:endParaRPr sz="10150" dirty="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872516" y="6182137"/>
            <a:ext cx="10334625" cy="535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50" spc="55" dirty="0">
                <a:solidFill>
                  <a:srgbClr val="2F2F2F"/>
                </a:solidFill>
                <a:latin typeface="Calibri"/>
                <a:cs typeface="Calibri"/>
              </a:rPr>
              <a:t>A</a:t>
            </a:r>
            <a:r>
              <a:rPr sz="3350" spc="-195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3350" spc="-125" dirty="0">
                <a:solidFill>
                  <a:srgbClr val="383838"/>
                </a:solidFill>
                <a:latin typeface="Calibri"/>
                <a:cs typeface="Calibri"/>
              </a:rPr>
              <a:t>Real-</a:t>
            </a:r>
            <a:r>
              <a:rPr sz="3350" spc="-65" dirty="0">
                <a:solidFill>
                  <a:srgbClr val="383838"/>
                </a:solidFill>
                <a:latin typeface="Calibri"/>
                <a:cs typeface="Calibri"/>
              </a:rPr>
              <a:t>Time</a:t>
            </a:r>
            <a:r>
              <a:rPr sz="3350" spc="-50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3350" spc="-105" dirty="0">
                <a:solidFill>
                  <a:srgbClr val="383838"/>
                </a:solidFill>
                <a:latin typeface="Calibri"/>
                <a:cs typeface="Calibri"/>
              </a:rPr>
              <a:t>Intrusion</a:t>
            </a:r>
            <a:r>
              <a:rPr sz="3350" spc="-80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3350" spc="-40" dirty="0">
                <a:solidFill>
                  <a:srgbClr val="383838"/>
                </a:solidFill>
                <a:latin typeface="Calibri"/>
                <a:cs typeface="Calibri"/>
              </a:rPr>
              <a:t>Detection</a:t>
            </a:r>
            <a:r>
              <a:rPr sz="3350" spc="-30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3350" spc="-70" dirty="0">
                <a:solidFill>
                  <a:srgbClr val="383838"/>
                </a:solidFill>
                <a:latin typeface="Calibri"/>
                <a:cs typeface="Calibri"/>
              </a:rPr>
              <a:t>System</a:t>
            </a:r>
            <a:r>
              <a:rPr sz="3350" spc="-90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3350" spc="-80" dirty="0">
                <a:solidFill>
                  <a:srgbClr val="363636"/>
                </a:solidFill>
                <a:latin typeface="Calibri"/>
                <a:cs typeface="Calibri"/>
              </a:rPr>
              <a:t>Using</a:t>
            </a:r>
            <a:r>
              <a:rPr sz="3350" spc="-110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3350" spc="-60" dirty="0">
                <a:solidFill>
                  <a:srgbClr val="343434"/>
                </a:solidFill>
                <a:latin typeface="Calibri"/>
                <a:cs typeface="Calibri"/>
              </a:rPr>
              <a:t>Edge</a:t>
            </a:r>
            <a:r>
              <a:rPr sz="3350" spc="-120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3350" spc="-60" dirty="0">
                <a:solidFill>
                  <a:srgbClr val="363636"/>
                </a:solidFill>
                <a:latin typeface="Calibri"/>
                <a:cs typeface="Calibri"/>
              </a:rPr>
              <a:t>Computing</a:t>
            </a:r>
            <a:endParaRPr sz="33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98146" y="5933065"/>
            <a:ext cx="1570990" cy="0"/>
          </a:xfrm>
          <a:custGeom>
            <a:avLst/>
            <a:gdLst/>
            <a:ahLst/>
            <a:cxnLst/>
            <a:rect l="l" t="t" r="r" b="b"/>
            <a:pathLst>
              <a:path w="1570990">
                <a:moveTo>
                  <a:pt x="0" y="0"/>
                </a:moveTo>
                <a:lnTo>
                  <a:pt x="1570632" y="0"/>
                </a:lnTo>
              </a:path>
            </a:pathLst>
          </a:custGeom>
          <a:ln w="54972">
            <a:solidFill>
              <a:srgbClr val="0F9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95773" rIns="0" bIns="0" rtlCol="0">
            <a:spAutoFit/>
          </a:bodyPr>
          <a:lstStyle/>
          <a:p>
            <a:pPr marL="4947920">
              <a:lnSpc>
                <a:spcPct val="100000"/>
              </a:lnSpc>
              <a:spcBef>
                <a:spcPts val="110"/>
              </a:spcBef>
            </a:pPr>
            <a:r>
              <a:rPr sz="8750" spc="165" dirty="0">
                <a:solidFill>
                  <a:srgbClr val="181818"/>
                </a:solidFill>
              </a:rPr>
              <a:t>The</a:t>
            </a:r>
            <a:r>
              <a:rPr sz="8750" spc="-560" dirty="0">
                <a:solidFill>
                  <a:srgbClr val="181818"/>
                </a:solidFill>
              </a:rPr>
              <a:t> </a:t>
            </a:r>
            <a:r>
              <a:rPr sz="8750" spc="320" dirty="0">
                <a:solidFill>
                  <a:srgbClr val="1A1A1A"/>
                </a:solidFill>
              </a:rPr>
              <a:t>Problem</a:t>
            </a:r>
            <a:endParaRPr sz="8750"/>
          </a:p>
        </p:txBody>
      </p:sp>
      <p:sp>
        <p:nvSpPr>
          <p:cNvPr id="4" name="object 4"/>
          <p:cNvSpPr txBox="1">
            <a:spLocks noGrp="1"/>
          </p:cNvSpPr>
          <p:nvPr>
            <p:ph type="subTitle" idx="4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73095" marR="5080" indent="-2800350">
              <a:lnSpc>
                <a:spcPct val="125800"/>
              </a:lnSpc>
              <a:spcBef>
                <a:spcPts val="95"/>
              </a:spcBef>
            </a:pPr>
            <a:r>
              <a:rPr sz="2950" spc="-165" dirty="0">
                <a:solidFill>
                  <a:srgbClr val="264460"/>
                </a:solidFill>
                <a:latin typeface="Arial MT"/>
                <a:cs typeface="Arial MT"/>
              </a:rPr>
              <a:t>Why</a:t>
            </a:r>
            <a:r>
              <a:rPr sz="2950" spc="-225" dirty="0">
                <a:solidFill>
                  <a:srgbClr val="264460"/>
                </a:solidFill>
                <a:latin typeface="Arial MT"/>
                <a:cs typeface="Arial MT"/>
              </a:rPr>
              <a:t> </a:t>
            </a:r>
            <a:r>
              <a:rPr sz="2950" spc="-55" dirty="0">
                <a:latin typeface="Arial MT"/>
                <a:cs typeface="Arial MT"/>
              </a:rPr>
              <a:t>traditional</a:t>
            </a:r>
            <a:r>
              <a:rPr sz="2950" spc="-25" dirty="0">
                <a:latin typeface="Arial MT"/>
                <a:cs typeface="Arial MT"/>
              </a:rPr>
              <a:t> </a:t>
            </a:r>
            <a:r>
              <a:rPr sz="2950" spc="-130" dirty="0">
                <a:solidFill>
                  <a:srgbClr val="282828"/>
                </a:solidFill>
                <a:latin typeface="Arial MT"/>
                <a:cs typeface="Arial MT"/>
              </a:rPr>
              <a:t>cloud-</a:t>
            </a:r>
            <a:r>
              <a:rPr sz="2950" spc="-125" dirty="0">
                <a:solidFill>
                  <a:srgbClr val="282828"/>
                </a:solidFill>
                <a:latin typeface="Arial MT"/>
                <a:cs typeface="Arial MT"/>
              </a:rPr>
              <a:t>only</a:t>
            </a:r>
            <a:r>
              <a:rPr sz="2950" spc="-90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2950" spc="-110" dirty="0">
                <a:solidFill>
                  <a:srgbClr val="2D2D2D"/>
                </a:solidFill>
                <a:latin typeface="Arial MT"/>
                <a:cs typeface="Arial MT"/>
              </a:rPr>
              <a:t>security </a:t>
            </a:r>
            <a:r>
              <a:rPr sz="2950" spc="-190" dirty="0">
                <a:solidFill>
                  <a:srgbClr val="333333"/>
                </a:solidFill>
                <a:latin typeface="Arial MT"/>
                <a:cs typeface="Arial MT"/>
              </a:rPr>
              <a:t>models</a:t>
            </a:r>
            <a:r>
              <a:rPr sz="2950" spc="-3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2950" spc="-180" dirty="0">
                <a:solidFill>
                  <a:srgbClr val="313131"/>
                </a:solidFill>
                <a:latin typeface="Arial MT"/>
                <a:cs typeface="Arial MT"/>
              </a:rPr>
              <a:t>are</a:t>
            </a:r>
            <a:r>
              <a:rPr sz="2950" spc="-160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950" spc="-65" dirty="0">
                <a:solidFill>
                  <a:srgbClr val="2A2A2A"/>
                </a:solidFill>
                <a:latin typeface="Arial MT"/>
                <a:cs typeface="Arial MT"/>
              </a:rPr>
              <a:t>inefficient,</a:t>
            </a:r>
            <a:r>
              <a:rPr sz="2950" spc="-5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2950" spc="-175" dirty="0">
                <a:solidFill>
                  <a:srgbClr val="2F2F2F"/>
                </a:solidFill>
                <a:latin typeface="Arial MT"/>
                <a:cs typeface="Arial MT"/>
              </a:rPr>
              <a:t>slow,</a:t>
            </a:r>
            <a:r>
              <a:rPr sz="2950" spc="-210" dirty="0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sz="2950" spc="-280" dirty="0">
                <a:solidFill>
                  <a:srgbClr val="282828"/>
                </a:solidFill>
                <a:latin typeface="Arial MT"/>
                <a:cs typeface="Arial MT"/>
              </a:rPr>
              <a:t>and </a:t>
            </a:r>
            <a:r>
              <a:rPr sz="2950" spc="-100" dirty="0">
                <a:latin typeface="Arial MT"/>
                <a:cs typeface="Arial MT"/>
              </a:rPr>
              <a:t>unreliable</a:t>
            </a:r>
            <a:r>
              <a:rPr sz="2950" spc="-70" dirty="0">
                <a:latin typeface="Arial MT"/>
                <a:cs typeface="Arial MT"/>
              </a:rPr>
              <a:t> </a:t>
            </a:r>
            <a:r>
              <a:rPr sz="2950" spc="-75" dirty="0">
                <a:solidFill>
                  <a:srgbClr val="363636"/>
                </a:solidFill>
                <a:latin typeface="Arial MT"/>
                <a:cs typeface="Arial MT"/>
              </a:rPr>
              <a:t>for</a:t>
            </a:r>
            <a:r>
              <a:rPr sz="2950" spc="-160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2950" spc="-85" dirty="0">
                <a:solidFill>
                  <a:srgbClr val="313131"/>
                </a:solidFill>
                <a:latin typeface="Arial MT"/>
                <a:cs typeface="Arial MT"/>
              </a:rPr>
              <a:t>real-</a:t>
            </a:r>
            <a:r>
              <a:rPr sz="2950" spc="-55" dirty="0">
                <a:solidFill>
                  <a:srgbClr val="313131"/>
                </a:solidFill>
                <a:latin typeface="Arial MT"/>
                <a:cs typeface="Arial MT"/>
              </a:rPr>
              <a:t>time</a:t>
            </a:r>
            <a:r>
              <a:rPr sz="2950" spc="-50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950" spc="-10" dirty="0">
                <a:solidFill>
                  <a:srgbClr val="363636"/>
                </a:solidFill>
                <a:latin typeface="Arial MT"/>
                <a:cs typeface="Arial MT"/>
              </a:rPr>
              <a:t>alerts.</a:t>
            </a:r>
            <a:endParaRPr sz="2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1135786"/>
            <a:ext cx="20104100" cy="17276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20"/>
              </a:spcBef>
            </a:pPr>
            <a:r>
              <a:rPr sz="6550" spc="125" dirty="0">
                <a:solidFill>
                  <a:srgbClr val="181818"/>
                </a:solidFill>
              </a:rPr>
              <a:t>Limitations</a:t>
            </a:r>
            <a:r>
              <a:rPr sz="6550" spc="-80" dirty="0">
                <a:solidFill>
                  <a:srgbClr val="181818"/>
                </a:solidFill>
              </a:rPr>
              <a:t> </a:t>
            </a:r>
            <a:r>
              <a:rPr sz="6550" dirty="0"/>
              <a:t>of</a:t>
            </a:r>
            <a:r>
              <a:rPr sz="6550" spc="-220" dirty="0"/>
              <a:t> </a:t>
            </a:r>
            <a:r>
              <a:rPr sz="6550" spc="250" dirty="0">
                <a:solidFill>
                  <a:srgbClr val="161616"/>
                </a:solidFill>
              </a:rPr>
              <a:t>Cloud-</a:t>
            </a:r>
            <a:r>
              <a:rPr sz="6550" spc="270" dirty="0">
                <a:solidFill>
                  <a:srgbClr val="161616"/>
                </a:solidFill>
              </a:rPr>
              <a:t>Only</a:t>
            </a:r>
            <a:r>
              <a:rPr sz="6550" spc="-170" dirty="0">
                <a:solidFill>
                  <a:srgbClr val="161616"/>
                </a:solidFill>
              </a:rPr>
              <a:t> </a:t>
            </a:r>
            <a:r>
              <a:rPr sz="6550" spc="-25" dirty="0">
                <a:solidFill>
                  <a:srgbClr val="1A1A1A"/>
                </a:solidFill>
              </a:rPr>
              <a:t>IoT</a:t>
            </a:r>
            <a:endParaRPr sz="6550"/>
          </a:p>
        </p:txBody>
      </p:sp>
      <p:sp>
        <p:nvSpPr>
          <p:cNvPr id="4" name="object 4"/>
          <p:cNvSpPr txBox="1"/>
          <p:nvPr/>
        </p:nvSpPr>
        <p:spPr>
          <a:xfrm>
            <a:off x="3750149" y="3491120"/>
            <a:ext cx="13277850" cy="5475605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2800" spc="160" dirty="0">
                <a:solidFill>
                  <a:srgbClr val="242424"/>
                </a:solidFill>
                <a:latin typeface="Calibri"/>
                <a:cs typeface="Calibri"/>
              </a:rPr>
              <a:t>High</a:t>
            </a:r>
            <a:r>
              <a:rPr sz="2800" spc="-175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2800" spc="120" dirty="0">
                <a:solidFill>
                  <a:srgbClr val="1C1C1C"/>
                </a:solidFill>
                <a:latin typeface="Calibri"/>
                <a:cs typeface="Calibri"/>
              </a:rPr>
              <a:t>Latency</a:t>
            </a:r>
            <a:endParaRPr sz="2800">
              <a:latin typeface="Calibri"/>
              <a:cs typeface="Calibri"/>
            </a:endParaRPr>
          </a:p>
          <a:p>
            <a:pPr marL="20320" marR="5080" indent="1270">
              <a:lnSpc>
                <a:spcPct val="117800"/>
              </a:lnSpc>
              <a:spcBef>
                <a:spcPts val="120"/>
              </a:spcBef>
            </a:pPr>
            <a:r>
              <a:rPr sz="2800" spc="-95" dirty="0">
                <a:solidFill>
                  <a:srgbClr val="343434"/>
                </a:solidFill>
                <a:latin typeface="Calibri"/>
                <a:cs typeface="Calibri"/>
              </a:rPr>
              <a:t>Sending</a:t>
            </a:r>
            <a:r>
              <a:rPr sz="2800" spc="-65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2800" spc="-80" dirty="0">
                <a:solidFill>
                  <a:srgbClr val="343434"/>
                </a:solidFill>
                <a:latin typeface="Calibri"/>
                <a:cs typeface="Calibri"/>
              </a:rPr>
              <a:t>sensor</a:t>
            </a:r>
            <a:r>
              <a:rPr sz="2800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2800" spc="-110" dirty="0">
                <a:solidFill>
                  <a:srgbClr val="363636"/>
                </a:solidFill>
                <a:latin typeface="Calibri"/>
                <a:cs typeface="Calibri"/>
              </a:rPr>
              <a:t>data</a:t>
            </a:r>
            <a:r>
              <a:rPr sz="2800" spc="-105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2800" spc="-105" dirty="0">
                <a:solidFill>
                  <a:srgbClr val="343434"/>
                </a:solidFill>
                <a:latin typeface="Calibri"/>
                <a:cs typeface="Calibri"/>
              </a:rPr>
              <a:t>to</a:t>
            </a:r>
            <a:r>
              <a:rPr sz="2800" spc="-140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2800" spc="-130" dirty="0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sz="2800" spc="-114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20" dirty="0">
                <a:solidFill>
                  <a:srgbClr val="3A3A3A"/>
                </a:solidFill>
                <a:latin typeface="Calibri"/>
                <a:cs typeface="Calibri"/>
              </a:rPr>
              <a:t>cloud,</a:t>
            </a:r>
            <a:r>
              <a:rPr sz="2800" spc="-110" dirty="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sz="2800" spc="-70" dirty="0">
                <a:solidFill>
                  <a:srgbClr val="343434"/>
                </a:solidFill>
                <a:latin typeface="Calibri"/>
                <a:cs typeface="Calibri"/>
              </a:rPr>
              <a:t>processing</a:t>
            </a:r>
            <a:r>
              <a:rPr sz="2800" spc="-10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2800" spc="-95" dirty="0">
                <a:solidFill>
                  <a:srgbClr val="3A3A3A"/>
                </a:solidFill>
                <a:latin typeface="Calibri"/>
                <a:cs typeface="Calibri"/>
              </a:rPr>
              <a:t>it,</a:t>
            </a:r>
            <a:r>
              <a:rPr sz="2800" spc="-195" dirty="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sz="2800" spc="-170" dirty="0">
                <a:solidFill>
                  <a:srgbClr val="383838"/>
                </a:solidFill>
                <a:latin typeface="Calibri"/>
                <a:cs typeface="Calibri"/>
              </a:rPr>
              <a:t>and</a:t>
            </a:r>
            <a:r>
              <a:rPr sz="2800" spc="-25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2800" spc="-105" dirty="0">
                <a:solidFill>
                  <a:srgbClr val="313131"/>
                </a:solidFill>
                <a:latin typeface="Calibri"/>
                <a:cs typeface="Calibri"/>
              </a:rPr>
              <a:t>sending</a:t>
            </a:r>
            <a:r>
              <a:rPr sz="2800" spc="-25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2800" spc="-114" dirty="0">
                <a:solidFill>
                  <a:srgbClr val="3F3F3F"/>
                </a:solidFill>
                <a:latin typeface="Calibri"/>
                <a:cs typeface="Calibri"/>
              </a:rPr>
              <a:t>an</a:t>
            </a:r>
            <a:r>
              <a:rPr sz="2800" spc="-1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80" dirty="0">
                <a:solidFill>
                  <a:srgbClr val="343434"/>
                </a:solidFill>
                <a:latin typeface="Calibri"/>
                <a:cs typeface="Calibri"/>
              </a:rPr>
              <a:t>alert</a:t>
            </a:r>
            <a:r>
              <a:rPr sz="2800" spc="-135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2800" spc="-95" dirty="0">
                <a:solidFill>
                  <a:srgbClr val="383838"/>
                </a:solidFill>
                <a:latin typeface="Calibri"/>
                <a:cs typeface="Calibri"/>
              </a:rPr>
              <a:t>back</a:t>
            </a:r>
            <a:r>
              <a:rPr sz="2800" spc="-60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2800" spc="-125" dirty="0">
                <a:solidFill>
                  <a:srgbClr val="343434"/>
                </a:solidFill>
                <a:latin typeface="Calibri"/>
                <a:cs typeface="Calibri"/>
              </a:rPr>
              <a:t>takes</a:t>
            </a:r>
            <a:r>
              <a:rPr sz="2800" spc="35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2800" spc="-105" dirty="0">
                <a:solidFill>
                  <a:srgbClr val="313131"/>
                </a:solidFill>
                <a:latin typeface="Calibri"/>
                <a:cs typeface="Calibri"/>
              </a:rPr>
              <a:t>valuable</a:t>
            </a:r>
            <a:r>
              <a:rPr sz="2800" spc="50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2800" spc="-125" dirty="0">
                <a:solidFill>
                  <a:srgbClr val="363636"/>
                </a:solidFill>
                <a:latin typeface="Calibri"/>
                <a:cs typeface="Calibri"/>
              </a:rPr>
              <a:t>seconds.</a:t>
            </a:r>
            <a:r>
              <a:rPr sz="2800" spc="-95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3F3F3F"/>
                </a:solidFill>
                <a:latin typeface="Calibri"/>
                <a:cs typeface="Calibri"/>
              </a:rPr>
              <a:t>In </a:t>
            </a:r>
            <a:r>
              <a:rPr sz="2800" spc="-105" dirty="0">
                <a:solidFill>
                  <a:srgbClr val="363636"/>
                </a:solidFill>
                <a:latin typeface="Calibri"/>
                <a:cs typeface="Calibri"/>
              </a:rPr>
              <a:t>security,</a:t>
            </a:r>
            <a:r>
              <a:rPr sz="2800" spc="-50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2800" spc="-90" dirty="0">
                <a:solidFill>
                  <a:srgbClr val="313131"/>
                </a:solidFill>
                <a:latin typeface="Calibri"/>
                <a:cs typeface="Calibri"/>
              </a:rPr>
              <a:t>every</a:t>
            </a:r>
            <a:r>
              <a:rPr sz="2800" spc="-45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2800" spc="-135" dirty="0">
                <a:solidFill>
                  <a:srgbClr val="343434"/>
                </a:solidFill>
                <a:latin typeface="Calibri"/>
                <a:cs typeface="Calibri"/>
              </a:rPr>
              <a:t>second</a:t>
            </a:r>
            <a:r>
              <a:rPr sz="2800" spc="25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33333"/>
                </a:solidFill>
                <a:latin typeface="Calibri"/>
                <a:cs typeface="Calibri"/>
              </a:rPr>
              <a:t>counts.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20"/>
              </a:spcBef>
            </a:pP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800" spc="114" dirty="0">
                <a:solidFill>
                  <a:srgbClr val="262626"/>
                </a:solidFill>
                <a:latin typeface="Calibri"/>
                <a:cs typeface="Calibri"/>
              </a:rPr>
              <a:t>Bandwidth</a:t>
            </a:r>
            <a:r>
              <a:rPr sz="2800" spc="60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2800" spc="114" dirty="0">
                <a:solidFill>
                  <a:srgbClr val="1F1F1F"/>
                </a:solidFill>
                <a:latin typeface="Calibri"/>
                <a:cs typeface="Calibri"/>
              </a:rPr>
              <a:t>Waste</a:t>
            </a:r>
            <a:endParaRPr sz="2800">
              <a:latin typeface="Calibri"/>
              <a:cs typeface="Calibri"/>
            </a:endParaRPr>
          </a:p>
          <a:p>
            <a:pPr marL="18415" marR="15240" indent="-1270">
              <a:lnSpc>
                <a:spcPct val="117800"/>
              </a:lnSpc>
              <a:spcBef>
                <a:spcPts val="245"/>
              </a:spcBef>
            </a:pPr>
            <a:r>
              <a:rPr sz="2800" spc="-45" dirty="0">
                <a:solidFill>
                  <a:srgbClr val="2D2D2D"/>
                </a:solidFill>
                <a:latin typeface="Calibri"/>
                <a:cs typeface="Calibri"/>
              </a:rPr>
              <a:t>Constantly</a:t>
            </a:r>
            <a:r>
              <a:rPr sz="2800" spc="-80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2800" spc="-110" dirty="0">
                <a:solidFill>
                  <a:srgbClr val="232323"/>
                </a:solidFill>
                <a:latin typeface="Calibri"/>
                <a:cs typeface="Calibri"/>
              </a:rPr>
              <a:t>streaming</a:t>
            </a:r>
            <a:r>
              <a:rPr sz="2800" spc="-5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800" spc="-110" dirty="0">
                <a:solidFill>
                  <a:srgbClr val="2F2F2F"/>
                </a:solidFill>
                <a:latin typeface="Calibri"/>
                <a:cs typeface="Calibri"/>
              </a:rPr>
              <a:t>data</a:t>
            </a:r>
            <a:r>
              <a:rPr sz="2800" spc="-12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800" spc="-120" dirty="0">
                <a:solidFill>
                  <a:srgbClr val="313131"/>
                </a:solidFill>
                <a:latin typeface="Calibri"/>
                <a:cs typeface="Calibri"/>
              </a:rPr>
              <a:t>(like</a:t>
            </a:r>
            <a:r>
              <a:rPr sz="2800" spc="-90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2800" spc="-160" dirty="0">
                <a:solidFill>
                  <a:srgbClr val="3F3F3F"/>
                </a:solidFill>
                <a:latin typeface="Calibri"/>
                <a:cs typeface="Calibri"/>
              </a:rPr>
              <a:t>"no</a:t>
            </a:r>
            <a:r>
              <a:rPr sz="2800" spc="-114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40" dirty="0">
                <a:solidFill>
                  <a:srgbClr val="343434"/>
                </a:solidFill>
                <a:latin typeface="Calibri"/>
                <a:cs typeface="Calibri"/>
              </a:rPr>
              <a:t>motion</a:t>
            </a:r>
            <a:r>
              <a:rPr sz="2800" spc="-20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2800" spc="-135" dirty="0">
                <a:solidFill>
                  <a:srgbClr val="2B2B2B"/>
                </a:solidFill>
                <a:latin typeface="Calibri"/>
                <a:cs typeface="Calibri"/>
              </a:rPr>
              <a:t>detected"</a:t>
            </a:r>
            <a:r>
              <a:rPr sz="2800" spc="5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2800" spc="-90" dirty="0">
                <a:solidFill>
                  <a:srgbClr val="343434"/>
                </a:solidFill>
                <a:latin typeface="Calibri"/>
                <a:cs typeface="Calibri"/>
              </a:rPr>
              <a:t>or</a:t>
            </a:r>
            <a:r>
              <a:rPr sz="2800" spc="-80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2800" spc="-95" dirty="0">
                <a:solidFill>
                  <a:srgbClr val="2D2D2D"/>
                </a:solidFill>
                <a:latin typeface="Calibri"/>
                <a:cs typeface="Calibri"/>
              </a:rPr>
              <a:t>"light</a:t>
            </a:r>
            <a:r>
              <a:rPr sz="2800" spc="-110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2800" spc="-95" dirty="0">
                <a:solidFill>
                  <a:srgbClr val="2F2F2F"/>
                </a:solidFill>
                <a:latin typeface="Calibri"/>
                <a:cs typeface="Calibri"/>
              </a:rPr>
              <a:t>level</a:t>
            </a:r>
            <a:r>
              <a:rPr sz="2800" spc="-45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B3B3B"/>
                </a:solidFill>
                <a:latin typeface="Calibri"/>
                <a:cs typeface="Calibri"/>
              </a:rPr>
              <a:t>is</a:t>
            </a:r>
            <a:r>
              <a:rPr sz="2800" spc="-13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800" spc="-35" dirty="0">
                <a:solidFill>
                  <a:srgbClr val="363636"/>
                </a:solidFill>
                <a:latin typeface="Calibri"/>
                <a:cs typeface="Calibri"/>
              </a:rPr>
              <a:t>400")</a:t>
            </a:r>
            <a:r>
              <a:rPr sz="2800" spc="-55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13131"/>
                </a:solidFill>
                <a:latin typeface="Calibri"/>
                <a:cs typeface="Calibri"/>
              </a:rPr>
              <a:t>24/7</a:t>
            </a:r>
            <a:r>
              <a:rPr sz="2800" spc="-50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2800" spc="-70" dirty="0">
                <a:solidFill>
                  <a:srgbClr val="313131"/>
                </a:solidFill>
                <a:latin typeface="Calibri"/>
                <a:cs typeface="Calibri"/>
              </a:rPr>
              <a:t>clogs</a:t>
            </a:r>
            <a:r>
              <a:rPr sz="2800" spc="-30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2800" spc="-135" dirty="0">
                <a:solidFill>
                  <a:srgbClr val="2D2D2D"/>
                </a:solidFill>
                <a:latin typeface="Calibri"/>
                <a:cs typeface="Calibri"/>
              </a:rPr>
              <a:t>the</a:t>
            </a:r>
            <a:r>
              <a:rPr sz="2800" spc="-145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2800" spc="-55" dirty="0">
                <a:solidFill>
                  <a:srgbClr val="363636"/>
                </a:solidFill>
                <a:latin typeface="Calibri"/>
                <a:cs typeface="Calibri"/>
              </a:rPr>
              <a:t>network </a:t>
            </a:r>
            <a:r>
              <a:rPr sz="2800" spc="-165" dirty="0">
                <a:solidFill>
                  <a:srgbClr val="2D2D2D"/>
                </a:solidFill>
                <a:latin typeface="Calibri"/>
                <a:cs typeface="Calibri"/>
              </a:rPr>
              <a:t>and</a:t>
            </a:r>
            <a:r>
              <a:rPr sz="2800" spc="-35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2800" spc="-85" dirty="0">
                <a:solidFill>
                  <a:srgbClr val="2F2F2F"/>
                </a:solidFill>
                <a:latin typeface="Calibri"/>
                <a:cs typeface="Calibri"/>
              </a:rPr>
              <a:t>increases</a:t>
            </a:r>
            <a:r>
              <a:rPr sz="2800" spc="3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800" spc="-110" dirty="0">
                <a:solidFill>
                  <a:srgbClr val="343434"/>
                </a:solidFill>
                <a:latin typeface="Calibri"/>
                <a:cs typeface="Calibri"/>
              </a:rPr>
              <a:t>data</a:t>
            </a:r>
            <a:r>
              <a:rPr sz="2800" spc="-125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13131"/>
                </a:solidFill>
                <a:latin typeface="Calibri"/>
                <a:cs typeface="Calibri"/>
              </a:rPr>
              <a:t>costs.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20"/>
              </a:spcBef>
            </a:pP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800" spc="155" dirty="0">
                <a:solidFill>
                  <a:srgbClr val="262626"/>
                </a:solidFill>
                <a:latin typeface="Calibri"/>
                <a:cs typeface="Calibri"/>
              </a:rPr>
              <a:t>Poor</a:t>
            </a:r>
            <a:r>
              <a:rPr sz="2800" spc="-105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2800" spc="105" dirty="0">
                <a:solidFill>
                  <a:srgbClr val="1F1F1F"/>
                </a:solidFill>
                <a:latin typeface="Calibri"/>
                <a:cs typeface="Calibri"/>
              </a:rPr>
              <a:t>Reliability</a:t>
            </a:r>
            <a:endParaRPr sz="2800">
              <a:latin typeface="Calibri"/>
              <a:cs typeface="Calibri"/>
            </a:endParaRPr>
          </a:p>
          <a:p>
            <a:pPr marL="15875" marR="277495" indent="4445">
              <a:lnSpc>
                <a:spcPct val="117800"/>
              </a:lnSpc>
              <a:spcBef>
                <a:spcPts val="125"/>
              </a:spcBef>
            </a:pPr>
            <a:r>
              <a:rPr sz="2800" dirty="0">
                <a:solidFill>
                  <a:srgbClr val="3B3B3B"/>
                </a:solidFill>
                <a:latin typeface="Calibri"/>
                <a:cs typeface="Calibri"/>
              </a:rPr>
              <a:t>If </a:t>
            </a:r>
            <a:r>
              <a:rPr sz="2800" spc="-130" dirty="0">
                <a:solidFill>
                  <a:srgbClr val="383838"/>
                </a:solidFill>
                <a:latin typeface="Calibri"/>
                <a:cs typeface="Calibri"/>
              </a:rPr>
              <a:t>the</a:t>
            </a:r>
            <a:r>
              <a:rPr sz="2800" spc="-114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2800" spc="-105" dirty="0">
                <a:solidFill>
                  <a:srgbClr val="3A3A3A"/>
                </a:solidFill>
                <a:latin typeface="Calibri"/>
                <a:cs typeface="Calibri"/>
              </a:rPr>
              <a:t>internet</a:t>
            </a:r>
            <a:r>
              <a:rPr sz="2800" spc="5" dirty="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sz="2800" spc="-114" dirty="0">
                <a:solidFill>
                  <a:srgbClr val="363636"/>
                </a:solidFill>
                <a:latin typeface="Calibri"/>
                <a:cs typeface="Calibri"/>
              </a:rPr>
              <a:t>connection</a:t>
            </a:r>
            <a:r>
              <a:rPr sz="2800" spc="50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2800" spc="-60" dirty="0">
                <a:solidFill>
                  <a:srgbClr val="2D2D2D"/>
                </a:solidFill>
                <a:latin typeface="Calibri"/>
                <a:cs typeface="Calibri"/>
              </a:rPr>
              <a:t>fails,</a:t>
            </a:r>
            <a:r>
              <a:rPr sz="2800" spc="-145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2800" spc="-130" dirty="0">
                <a:solidFill>
                  <a:srgbClr val="383838"/>
                </a:solidFill>
                <a:latin typeface="Calibri"/>
                <a:cs typeface="Calibri"/>
              </a:rPr>
              <a:t>the</a:t>
            </a:r>
            <a:r>
              <a:rPr sz="2800" spc="-120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2800" spc="-105" dirty="0">
                <a:solidFill>
                  <a:srgbClr val="2D2D2D"/>
                </a:solidFill>
                <a:latin typeface="Calibri"/>
                <a:cs typeface="Calibri"/>
              </a:rPr>
              <a:t>entire</a:t>
            </a:r>
            <a:r>
              <a:rPr sz="2800" spc="-15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2800" spc="-105" dirty="0">
                <a:solidFill>
                  <a:srgbClr val="2D2D2D"/>
                </a:solidFill>
                <a:latin typeface="Calibri"/>
                <a:cs typeface="Calibri"/>
              </a:rPr>
              <a:t>system</a:t>
            </a:r>
            <a:r>
              <a:rPr sz="2800" spc="-70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2800" spc="-30" dirty="0">
                <a:solidFill>
                  <a:srgbClr val="31465B"/>
                </a:solidFill>
                <a:latin typeface="Calibri"/>
                <a:cs typeface="Calibri"/>
              </a:rPr>
              <a:t>is</a:t>
            </a:r>
            <a:r>
              <a:rPr sz="2800" spc="-125" dirty="0">
                <a:solidFill>
                  <a:srgbClr val="31465B"/>
                </a:solidFill>
                <a:latin typeface="Calibri"/>
                <a:cs typeface="Calibri"/>
              </a:rPr>
              <a:t> </a:t>
            </a:r>
            <a:r>
              <a:rPr sz="2800" spc="-120" dirty="0">
                <a:solidFill>
                  <a:srgbClr val="2F2F2F"/>
                </a:solidFill>
                <a:latin typeface="Calibri"/>
                <a:cs typeface="Calibri"/>
              </a:rPr>
              <a:t>blind.</a:t>
            </a:r>
            <a:r>
              <a:rPr sz="2800" spc="-9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800" spc="-80" dirty="0">
                <a:solidFill>
                  <a:srgbClr val="3A3A3A"/>
                </a:solidFill>
                <a:latin typeface="Calibri"/>
                <a:cs typeface="Calibri"/>
              </a:rPr>
              <a:t>The</a:t>
            </a:r>
            <a:r>
              <a:rPr sz="2800" spc="-120" dirty="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sz="2800" spc="-120" dirty="0">
                <a:solidFill>
                  <a:srgbClr val="2F2F2F"/>
                </a:solidFill>
                <a:latin typeface="Calibri"/>
                <a:cs typeface="Calibri"/>
              </a:rPr>
              <a:t>cloud</a:t>
            </a:r>
            <a:r>
              <a:rPr sz="2800" spc="-4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800" spc="-90" dirty="0">
                <a:solidFill>
                  <a:srgbClr val="2F2F2F"/>
                </a:solidFill>
                <a:latin typeface="Calibri"/>
                <a:cs typeface="Calibri"/>
              </a:rPr>
              <a:t>receives</a:t>
            </a:r>
            <a:r>
              <a:rPr sz="2800" spc="35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800" spc="-130" dirty="0">
                <a:solidFill>
                  <a:srgbClr val="3F3F3F"/>
                </a:solidFill>
                <a:latin typeface="Calibri"/>
                <a:cs typeface="Calibri"/>
              </a:rPr>
              <a:t>no</a:t>
            </a:r>
            <a:r>
              <a:rPr sz="2800" spc="-114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25" dirty="0">
                <a:solidFill>
                  <a:srgbClr val="2F2F2F"/>
                </a:solidFill>
                <a:latin typeface="Calibri"/>
                <a:cs typeface="Calibri"/>
              </a:rPr>
              <a:t>data,</a:t>
            </a:r>
            <a:r>
              <a:rPr sz="2800" spc="-15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800" spc="-170" dirty="0">
                <a:solidFill>
                  <a:srgbClr val="363636"/>
                </a:solidFill>
                <a:latin typeface="Calibri"/>
                <a:cs typeface="Calibri"/>
              </a:rPr>
              <a:t>and</a:t>
            </a:r>
            <a:r>
              <a:rPr sz="2800" spc="-20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2800" spc="-130" dirty="0">
                <a:solidFill>
                  <a:srgbClr val="363636"/>
                </a:solidFill>
                <a:latin typeface="Calibri"/>
                <a:cs typeface="Calibri"/>
              </a:rPr>
              <a:t>the</a:t>
            </a:r>
            <a:r>
              <a:rPr sz="2800" spc="-135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2F2F2F"/>
                </a:solidFill>
                <a:latin typeface="Calibri"/>
                <a:cs typeface="Calibri"/>
              </a:rPr>
              <a:t>user </a:t>
            </a:r>
            <a:r>
              <a:rPr sz="2800" spc="-90" dirty="0">
                <a:solidFill>
                  <a:srgbClr val="363636"/>
                </a:solidFill>
                <a:latin typeface="Calibri"/>
                <a:cs typeface="Calibri"/>
              </a:rPr>
              <a:t>receives</a:t>
            </a:r>
            <a:r>
              <a:rPr sz="2800" spc="-10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2800" spc="-130" dirty="0">
                <a:solidFill>
                  <a:srgbClr val="464646"/>
                </a:solidFill>
                <a:latin typeface="Calibri"/>
                <a:cs typeface="Calibri"/>
              </a:rPr>
              <a:t>no</a:t>
            </a:r>
            <a:r>
              <a:rPr sz="2800" spc="-110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2F2F2F"/>
                </a:solidFill>
                <a:latin typeface="Calibri"/>
                <a:cs typeface="Calibri"/>
              </a:rPr>
              <a:t>alerts.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98146" y="5933065"/>
            <a:ext cx="1570990" cy="0"/>
          </a:xfrm>
          <a:custGeom>
            <a:avLst/>
            <a:gdLst/>
            <a:ahLst/>
            <a:cxnLst/>
            <a:rect l="l" t="t" r="r" b="b"/>
            <a:pathLst>
              <a:path w="1570990">
                <a:moveTo>
                  <a:pt x="0" y="0"/>
                </a:moveTo>
                <a:lnTo>
                  <a:pt x="1570632" y="0"/>
                </a:lnTo>
              </a:path>
            </a:pathLst>
          </a:custGeom>
          <a:ln w="54972">
            <a:solidFill>
              <a:srgbClr val="0F9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054248" y="3551981"/>
            <a:ext cx="5955665" cy="1459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400" spc="-155" dirty="0">
                <a:solidFill>
                  <a:srgbClr val="1A1A1A"/>
                </a:solidFill>
                <a:latin typeface="Calibri"/>
                <a:cs typeface="Calibri"/>
              </a:rPr>
              <a:t>The</a:t>
            </a:r>
            <a:r>
              <a:rPr sz="9400" spc="-43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9400" spc="-40" dirty="0">
                <a:solidFill>
                  <a:srgbClr val="161616"/>
                </a:solidFill>
                <a:latin typeface="Calibri"/>
                <a:cs typeface="Calibri"/>
              </a:rPr>
              <a:t>Solution</a:t>
            </a:r>
            <a:endParaRPr sz="94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ubTitle" idx="4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01365" marR="5080" indent="-3283585">
              <a:lnSpc>
                <a:spcPct val="119700"/>
              </a:lnSpc>
              <a:spcBef>
                <a:spcPts val="100"/>
              </a:spcBef>
            </a:pPr>
            <a:r>
              <a:rPr sz="3100" dirty="0">
                <a:solidFill>
                  <a:srgbClr val="384660"/>
                </a:solidFill>
              </a:rPr>
              <a:t>A</a:t>
            </a:r>
            <a:r>
              <a:rPr sz="3100" spc="-180" dirty="0">
                <a:solidFill>
                  <a:srgbClr val="384660"/>
                </a:solidFill>
              </a:rPr>
              <a:t> </a:t>
            </a:r>
            <a:r>
              <a:rPr sz="3100" spc="-110" dirty="0">
                <a:solidFill>
                  <a:srgbClr val="333333"/>
                </a:solidFill>
              </a:rPr>
              <a:t>Fog-</a:t>
            </a:r>
            <a:r>
              <a:rPr sz="3100" spc="-95" dirty="0">
                <a:solidFill>
                  <a:srgbClr val="333333"/>
                </a:solidFill>
              </a:rPr>
              <a:t>Enabled</a:t>
            </a:r>
            <a:r>
              <a:rPr sz="3100" spc="-80" dirty="0">
                <a:solidFill>
                  <a:srgbClr val="333333"/>
                </a:solidFill>
              </a:rPr>
              <a:t> </a:t>
            </a:r>
            <a:r>
              <a:rPr sz="3100" spc="-65" dirty="0"/>
              <a:t>Architecture</a:t>
            </a:r>
            <a:r>
              <a:rPr sz="3100" spc="-30" dirty="0"/>
              <a:t> </a:t>
            </a:r>
            <a:r>
              <a:rPr sz="3100" spc="-130" dirty="0"/>
              <a:t>that</a:t>
            </a:r>
            <a:r>
              <a:rPr sz="3100" spc="-195" dirty="0"/>
              <a:t> </a:t>
            </a:r>
            <a:r>
              <a:rPr sz="3100" spc="-80" dirty="0">
                <a:solidFill>
                  <a:srgbClr val="313131"/>
                </a:solidFill>
              </a:rPr>
              <a:t>brings</a:t>
            </a:r>
            <a:r>
              <a:rPr sz="3100" spc="-60" dirty="0">
                <a:solidFill>
                  <a:srgbClr val="313131"/>
                </a:solidFill>
              </a:rPr>
              <a:t> </a:t>
            </a:r>
            <a:r>
              <a:rPr sz="3100" spc="-70" dirty="0"/>
              <a:t>intelligence</a:t>
            </a:r>
            <a:r>
              <a:rPr sz="3100" spc="75" dirty="0"/>
              <a:t> </a:t>
            </a:r>
            <a:r>
              <a:rPr sz="3100" spc="-185" dirty="0">
                <a:solidFill>
                  <a:srgbClr val="383838"/>
                </a:solidFill>
              </a:rPr>
              <a:t>and</a:t>
            </a:r>
            <a:r>
              <a:rPr sz="3100" spc="-140" dirty="0">
                <a:solidFill>
                  <a:srgbClr val="383838"/>
                </a:solidFill>
              </a:rPr>
              <a:t> </a:t>
            </a:r>
            <a:r>
              <a:rPr sz="3100" spc="-75" dirty="0">
                <a:solidFill>
                  <a:srgbClr val="2F2F2F"/>
                </a:solidFill>
              </a:rPr>
              <a:t>decision-</a:t>
            </a:r>
            <a:r>
              <a:rPr sz="3100" spc="-10" dirty="0">
                <a:solidFill>
                  <a:srgbClr val="2F2F2F"/>
                </a:solidFill>
              </a:rPr>
              <a:t>making </a:t>
            </a:r>
            <a:r>
              <a:rPr sz="3100" spc="-114" dirty="0">
                <a:solidFill>
                  <a:srgbClr val="3D3D3D"/>
                </a:solidFill>
              </a:rPr>
              <a:t>to</a:t>
            </a:r>
            <a:r>
              <a:rPr sz="3100" spc="-200" dirty="0">
                <a:solidFill>
                  <a:srgbClr val="3D3D3D"/>
                </a:solidFill>
              </a:rPr>
              <a:t> </a:t>
            </a:r>
            <a:r>
              <a:rPr sz="3100" spc="-150" dirty="0">
                <a:solidFill>
                  <a:srgbClr val="3B3B3B"/>
                </a:solidFill>
              </a:rPr>
              <a:t>the</a:t>
            </a:r>
            <a:r>
              <a:rPr sz="3100" spc="-90" dirty="0">
                <a:solidFill>
                  <a:srgbClr val="3B3B3B"/>
                </a:solidFill>
              </a:rPr>
              <a:t> </a:t>
            </a:r>
            <a:r>
              <a:rPr sz="3100" spc="-195" dirty="0">
                <a:solidFill>
                  <a:srgbClr val="363636"/>
                </a:solidFill>
              </a:rPr>
              <a:t>"edge"</a:t>
            </a:r>
            <a:r>
              <a:rPr sz="3100" spc="35" dirty="0">
                <a:solidFill>
                  <a:srgbClr val="363636"/>
                </a:solidFill>
              </a:rPr>
              <a:t> </a:t>
            </a:r>
            <a:r>
              <a:rPr sz="3100" spc="-180" dirty="0">
                <a:solidFill>
                  <a:srgbClr val="3B3B3B"/>
                </a:solidFill>
              </a:rPr>
              <a:t>of</a:t>
            </a:r>
            <a:r>
              <a:rPr sz="3100" spc="-85" dirty="0">
                <a:solidFill>
                  <a:srgbClr val="3B3B3B"/>
                </a:solidFill>
              </a:rPr>
              <a:t> </a:t>
            </a:r>
            <a:r>
              <a:rPr sz="3100" spc="-150" dirty="0"/>
              <a:t>the</a:t>
            </a:r>
            <a:r>
              <a:rPr sz="3100" spc="-105" dirty="0"/>
              <a:t> </a:t>
            </a:r>
            <a:r>
              <a:rPr sz="3100" spc="-10" dirty="0">
                <a:solidFill>
                  <a:srgbClr val="333333"/>
                </a:solidFill>
              </a:rPr>
              <a:t>network.</a:t>
            </a:r>
            <a:endParaRPr sz="3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5560">
              <a:lnSpc>
                <a:spcPct val="100000"/>
              </a:lnSpc>
              <a:spcBef>
                <a:spcPts val="120"/>
              </a:spcBef>
            </a:pPr>
            <a:r>
              <a:rPr sz="6550" spc="135" dirty="0">
                <a:solidFill>
                  <a:srgbClr val="1A1A1A"/>
                </a:solidFill>
              </a:rPr>
              <a:t>What</a:t>
            </a:r>
            <a:r>
              <a:rPr sz="6550" spc="-470" dirty="0">
                <a:solidFill>
                  <a:srgbClr val="1A1A1A"/>
                </a:solidFill>
              </a:rPr>
              <a:t> </a:t>
            </a:r>
            <a:r>
              <a:rPr sz="6550" spc="75" dirty="0">
                <a:solidFill>
                  <a:srgbClr val="1A1A1A"/>
                </a:solidFill>
              </a:rPr>
              <a:t>is</a:t>
            </a:r>
            <a:r>
              <a:rPr sz="6550" spc="-85" dirty="0">
                <a:solidFill>
                  <a:srgbClr val="1A1A1A"/>
                </a:solidFill>
              </a:rPr>
              <a:t> </a:t>
            </a:r>
            <a:r>
              <a:rPr sz="6550" spc="155" dirty="0"/>
              <a:t>Fog</a:t>
            </a:r>
            <a:r>
              <a:rPr sz="6550" spc="40" dirty="0"/>
              <a:t> </a:t>
            </a:r>
            <a:r>
              <a:rPr sz="6550" spc="-210" dirty="0">
                <a:solidFill>
                  <a:srgbClr val="1A1A1A"/>
                </a:solidFill>
              </a:rPr>
              <a:t>/</a:t>
            </a:r>
            <a:r>
              <a:rPr sz="6550" spc="-525" dirty="0">
                <a:solidFill>
                  <a:srgbClr val="1A1A1A"/>
                </a:solidFill>
              </a:rPr>
              <a:t> </a:t>
            </a:r>
            <a:r>
              <a:rPr sz="6550" spc="220" dirty="0"/>
              <a:t>Edge</a:t>
            </a:r>
            <a:r>
              <a:rPr sz="6550" spc="-434" dirty="0"/>
              <a:t> </a:t>
            </a:r>
            <a:r>
              <a:rPr sz="6550" spc="175" dirty="0">
                <a:solidFill>
                  <a:srgbClr val="161616"/>
                </a:solidFill>
              </a:rPr>
              <a:t>Computing?</a:t>
            </a:r>
            <a:endParaRPr sz="6550"/>
          </a:p>
        </p:txBody>
      </p:sp>
      <p:sp>
        <p:nvSpPr>
          <p:cNvPr id="3" name="object 3"/>
          <p:cNvSpPr txBox="1"/>
          <p:nvPr/>
        </p:nvSpPr>
        <p:spPr>
          <a:xfrm>
            <a:off x="1537909" y="4965551"/>
            <a:ext cx="6851015" cy="26035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4750" spc="-710" dirty="0">
                <a:solidFill>
                  <a:srgbClr val="009789"/>
                </a:solidFill>
                <a:latin typeface="Calibri"/>
                <a:cs typeface="Calibri"/>
              </a:rPr>
              <a:t>1.</a:t>
            </a:r>
            <a:r>
              <a:rPr sz="4750" spc="180" dirty="0">
                <a:solidFill>
                  <a:srgbClr val="009789"/>
                </a:solidFill>
                <a:latin typeface="Calibri"/>
                <a:cs typeface="Calibri"/>
              </a:rPr>
              <a:t> </a:t>
            </a:r>
            <a:r>
              <a:rPr sz="4750" spc="-105" dirty="0">
                <a:solidFill>
                  <a:srgbClr val="009A85"/>
                </a:solidFill>
                <a:latin typeface="Calibri"/>
                <a:cs typeface="Calibri"/>
              </a:rPr>
              <a:t>The</a:t>
            </a:r>
            <a:r>
              <a:rPr sz="4750" spc="-165" dirty="0">
                <a:solidFill>
                  <a:srgbClr val="009A85"/>
                </a:solidFill>
                <a:latin typeface="Calibri"/>
                <a:cs typeface="Calibri"/>
              </a:rPr>
              <a:t> </a:t>
            </a:r>
            <a:r>
              <a:rPr sz="4750" spc="-120" dirty="0">
                <a:solidFill>
                  <a:srgbClr val="1F8A8A"/>
                </a:solidFill>
                <a:latin typeface="Calibri"/>
                <a:cs typeface="Calibri"/>
              </a:rPr>
              <a:t>"Fog/Edge"</a:t>
            </a:r>
            <a:r>
              <a:rPr sz="4750" spc="-110" dirty="0">
                <a:solidFill>
                  <a:srgbClr val="1F8A8A"/>
                </a:solidFill>
                <a:latin typeface="Calibri"/>
                <a:cs typeface="Calibri"/>
              </a:rPr>
              <a:t> </a:t>
            </a:r>
            <a:r>
              <a:rPr sz="4750" spc="-20" dirty="0">
                <a:solidFill>
                  <a:srgbClr val="009C85"/>
                </a:solidFill>
                <a:latin typeface="Calibri"/>
                <a:cs typeface="Calibri"/>
              </a:rPr>
              <a:t>Node</a:t>
            </a:r>
            <a:endParaRPr sz="4750" dirty="0">
              <a:latin typeface="Calibri"/>
              <a:cs typeface="Calibri"/>
            </a:endParaRPr>
          </a:p>
          <a:p>
            <a:pPr marL="46990" marR="5080" indent="2540">
              <a:lnSpc>
                <a:spcPct val="117800"/>
              </a:lnSpc>
              <a:spcBef>
                <a:spcPts val="2700"/>
              </a:spcBef>
            </a:pPr>
            <a:r>
              <a:rPr sz="2800" spc="-25" dirty="0">
                <a:solidFill>
                  <a:srgbClr val="313131"/>
                </a:solidFill>
                <a:latin typeface="Calibri"/>
                <a:cs typeface="Calibri"/>
              </a:rPr>
              <a:t>An</a:t>
            </a:r>
            <a:r>
              <a:rPr sz="2800" spc="-165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2800" spc="-204" dirty="0">
                <a:solidFill>
                  <a:srgbClr val="363636"/>
                </a:solidFill>
                <a:latin typeface="Calibri"/>
                <a:cs typeface="Calibri"/>
              </a:rPr>
              <a:t>"edge"</a:t>
            </a:r>
            <a:r>
              <a:rPr sz="2800" spc="20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2800" spc="-114" dirty="0">
                <a:solidFill>
                  <a:srgbClr val="333333"/>
                </a:solidFill>
                <a:latin typeface="Calibri"/>
                <a:cs typeface="Calibri"/>
              </a:rPr>
              <a:t>device</a:t>
            </a:r>
            <a:r>
              <a:rPr sz="2800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114" dirty="0">
                <a:solidFill>
                  <a:srgbClr val="3D3D3D"/>
                </a:solidFill>
                <a:latin typeface="Calibri"/>
                <a:cs typeface="Calibri"/>
              </a:rPr>
              <a:t>(our</a:t>
            </a:r>
            <a:r>
              <a:rPr sz="2800" spc="2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63636"/>
                </a:solidFill>
                <a:latin typeface="Calibri"/>
                <a:cs typeface="Calibri"/>
              </a:rPr>
              <a:t>ESP32)</a:t>
            </a:r>
            <a:r>
              <a:rPr sz="2800" spc="30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2800" spc="-35" dirty="0">
                <a:solidFill>
                  <a:srgbClr val="3A3A3A"/>
                </a:solidFill>
                <a:latin typeface="Calibri"/>
                <a:cs typeface="Calibri"/>
              </a:rPr>
              <a:t>sits</a:t>
            </a:r>
            <a:r>
              <a:rPr sz="2800" spc="-100" dirty="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sz="2800" spc="-65" dirty="0">
                <a:solidFill>
                  <a:srgbClr val="383838"/>
                </a:solidFill>
                <a:latin typeface="Calibri"/>
                <a:cs typeface="Calibri"/>
              </a:rPr>
              <a:t>locally</a:t>
            </a:r>
            <a:r>
              <a:rPr sz="2800" spc="-15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2800" spc="-110" dirty="0">
                <a:solidFill>
                  <a:srgbClr val="3D3D3D"/>
                </a:solidFill>
                <a:latin typeface="Calibri"/>
                <a:cs typeface="Calibri"/>
              </a:rPr>
              <a:t>with</a:t>
            </a:r>
            <a:r>
              <a:rPr sz="2800" spc="-6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313131"/>
                </a:solidFill>
                <a:latin typeface="Calibri"/>
                <a:cs typeface="Calibri"/>
              </a:rPr>
              <a:t>the </a:t>
            </a:r>
            <a:r>
              <a:rPr sz="2800" spc="-90" dirty="0">
                <a:solidFill>
                  <a:srgbClr val="313131"/>
                </a:solidFill>
                <a:latin typeface="Calibri"/>
                <a:cs typeface="Calibri"/>
              </a:rPr>
              <a:t>sensors.</a:t>
            </a:r>
            <a:r>
              <a:rPr sz="2800" spc="-114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B3B3B"/>
                </a:solidFill>
                <a:latin typeface="Calibri"/>
                <a:cs typeface="Calibri"/>
              </a:rPr>
              <a:t>It</a:t>
            </a:r>
            <a:r>
              <a:rPr sz="2800" spc="-229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800" spc="-70" dirty="0">
                <a:solidFill>
                  <a:srgbClr val="343434"/>
                </a:solidFill>
                <a:latin typeface="Calibri"/>
                <a:cs typeface="Calibri"/>
              </a:rPr>
              <a:t>processes</a:t>
            </a:r>
            <a:r>
              <a:rPr sz="2800" spc="15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2800" spc="-110" dirty="0">
                <a:solidFill>
                  <a:srgbClr val="343434"/>
                </a:solidFill>
                <a:latin typeface="Calibri"/>
                <a:cs typeface="Calibri"/>
              </a:rPr>
              <a:t>data</a:t>
            </a:r>
            <a:r>
              <a:rPr sz="2800" spc="-215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lang="en-US" sz="2800" spc="-114" dirty="0">
                <a:solidFill>
                  <a:srgbClr val="2F2F2F"/>
                </a:solidFill>
                <a:latin typeface="Calibri"/>
                <a:cs typeface="Calibri"/>
              </a:rPr>
              <a:t>"</a:t>
            </a:r>
            <a:r>
              <a:rPr sz="2800" spc="-114" dirty="0">
                <a:solidFill>
                  <a:srgbClr val="2F2F2F"/>
                </a:solidFill>
                <a:latin typeface="Calibri"/>
                <a:cs typeface="Calibri"/>
              </a:rPr>
              <a:t>instantly”</a:t>
            </a:r>
            <a:r>
              <a:rPr sz="2800" spc="45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800" spc="-170" dirty="0">
                <a:solidFill>
                  <a:srgbClr val="3B3B3B"/>
                </a:solidFill>
                <a:latin typeface="Calibri"/>
                <a:cs typeface="Calibri"/>
              </a:rPr>
              <a:t>and</a:t>
            </a:r>
            <a:r>
              <a:rPr sz="2800" spc="-6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2F2F2F"/>
                </a:solidFill>
                <a:latin typeface="Calibri"/>
                <a:cs typeface="Calibri"/>
              </a:rPr>
              <a:t>makes </a:t>
            </a:r>
            <a:r>
              <a:rPr sz="2800" spc="-75" dirty="0">
                <a:solidFill>
                  <a:srgbClr val="343434"/>
                </a:solidFill>
                <a:latin typeface="Calibri"/>
                <a:cs typeface="Calibri"/>
              </a:rPr>
              <a:t>decisions</a:t>
            </a:r>
            <a:r>
              <a:rPr sz="2800" spc="-20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2800" spc="-130" dirty="0">
                <a:solidFill>
                  <a:srgbClr val="3F3F3F"/>
                </a:solidFill>
                <a:latin typeface="Calibri"/>
                <a:cs typeface="Calibri"/>
              </a:rPr>
              <a:t>on </a:t>
            </a:r>
            <a:r>
              <a:rPr sz="2800" spc="-45" dirty="0">
                <a:solidFill>
                  <a:srgbClr val="343434"/>
                </a:solidFill>
                <a:latin typeface="Calibri"/>
                <a:cs typeface="Calibri"/>
              </a:rPr>
              <a:t>its</a:t>
            </a:r>
            <a:r>
              <a:rPr sz="2800" spc="-105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2800" spc="-145" dirty="0">
                <a:solidFill>
                  <a:srgbClr val="3D3D3D"/>
                </a:solidFill>
                <a:latin typeface="Calibri"/>
                <a:cs typeface="Calibri"/>
              </a:rPr>
              <a:t>own,</a:t>
            </a:r>
            <a:r>
              <a:rPr sz="2800" spc="-22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800" spc="-105" dirty="0">
                <a:solidFill>
                  <a:srgbClr val="313131"/>
                </a:solidFill>
                <a:latin typeface="Calibri"/>
                <a:cs typeface="Calibri"/>
              </a:rPr>
              <a:t>without</a:t>
            </a:r>
            <a:r>
              <a:rPr sz="2800" spc="-45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2800" spc="-70" dirty="0">
                <a:solidFill>
                  <a:srgbClr val="383838"/>
                </a:solidFill>
                <a:latin typeface="Calibri"/>
                <a:cs typeface="Calibri"/>
              </a:rPr>
              <a:t>asking</a:t>
            </a:r>
            <a:r>
              <a:rPr sz="2800" spc="-65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2800" spc="-130" dirty="0">
                <a:solidFill>
                  <a:srgbClr val="3B3B3B"/>
                </a:solidFill>
                <a:latin typeface="Calibri"/>
                <a:cs typeface="Calibri"/>
              </a:rPr>
              <a:t>the</a:t>
            </a:r>
            <a:r>
              <a:rPr sz="2800" spc="-114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800" spc="-110" dirty="0">
                <a:solidFill>
                  <a:srgbClr val="383838"/>
                </a:solidFill>
                <a:latin typeface="Calibri"/>
                <a:cs typeface="Calibri"/>
              </a:rPr>
              <a:t>cloud</a:t>
            </a:r>
            <a:r>
              <a:rPr sz="2800" spc="-45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2800" spc="-50" dirty="0">
                <a:solidFill>
                  <a:srgbClr val="343434"/>
                </a:solidFill>
                <a:latin typeface="Calibri"/>
                <a:cs typeface="Calibri"/>
              </a:rPr>
              <a:t>first.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65829" y="4965551"/>
            <a:ext cx="7329170" cy="26035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4750" spc="-180" dirty="0">
                <a:solidFill>
                  <a:srgbClr val="039C85"/>
                </a:solidFill>
                <a:latin typeface="Calibri"/>
                <a:cs typeface="Calibri"/>
              </a:rPr>
              <a:t>2.</a:t>
            </a:r>
            <a:r>
              <a:rPr sz="4750" spc="-90" dirty="0">
                <a:solidFill>
                  <a:srgbClr val="039C85"/>
                </a:solidFill>
                <a:latin typeface="Calibri"/>
                <a:cs typeface="Calibri"/>
              </a:rPr>
              <a:t> </a:t>
            </a:r>
            <a:r>
              <a:rPr sz="4750" spc="-105" dirty="0">
                <a:solidFill>
                  <a:srgbClr val="019A82"/>
                </a:solidFill>
                <a:latin typeface="Calibri"/>
                <a:cs typeface="Calibri"/>
              </a:rPr>
              <a:t>The</a:t>
            </a:r>
            <a:r>
              <a:rPr sz="4750" spc="-155" dirty="0">
                <a:solidFill>
                  <a:srgbClr val="019A82"/>
                </a:solidFill>
                <a:latin typeface="Calibri"/>
                <a:cs typeface="Calibri"/>
              </a:rPr>
              <a:t> </a:t>
            </a:r>
            <a:r>
              <a:rPr sz="4750" spc="-60" dirty="0">
                <a:solidFill>
                  <a:srgbClr val="079789"/>
                </a:solidFill>
                <a:latin typeface="Calibri"/>
                <a:cs typeface="Calibri"/>
              </a:rPr>
              <a:t>"Cloud"</a:t>
            </a:r>
            <a:endParaRPr sz="4750" dirty="0">
              <a:latin typeface="Calibri"/>
              <a:cs typeface="Calibri"/>
            </a:endParaRPr>
          </a:p>
          <a:p>
            <a:pPr marL="19050" marR="5080" indent="8255">
              <a:lnSpc>
                <a:spcPct val="117800"/>
              </a:lnSpc>
              <a:spcBef>
                <a:spcPts val="2700"/>
              </a:spcBef>
            </a:pPr>
            <a:r>
              <a:rPr sz="2800" spc="-80" dirty="0">
                <a:solidFill>
                  <a:srgbClr val="3B3B3B"/>
                </a:solidFill>
                <a:latin typeface="Calibri"/>
                <a:cs typeface="Calibri"/>
              </a:rPr>
              <a:t>The</a:t>
            </a:r>
            <a:r>
              <a:rPr sz="2800" spc="-12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800" spc="-95" dirty="0">
                <a:solidFill>
                  <a:srgbClr val="313131"/>
                </a:solidFill>
                <a:latin typeface="Calibri"/>
                <a:cs typeface="Calibri"/>
              </a:rPr>
              <a:t>central</a:t>
            </a:r>
            <a:r>
              <a:rPr sz="2800" spc="-65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2800" spc="-110" dirty="0">
                <a:solidFill>
                  <a:srgbClr val="383838"/>
                </a:solidFill>
                <a:latin typeface="Calibri"/>
                <a:cs typeface="Calibri"/>
              </a:rPr>
              <a:t>cloud</a:t>
            </a:r>
            <a:r>
              <a:rPr sz="2800" spc="-30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2800" spc="-65" dirty="0">
                <a:solidFill>
                  <a:srgbClr val="363636"/>
                </a:solidFill>
                <a:latin typeface="Calibri"/>
                <a:cs typeface="Calibri"/>
              </a:rPr>
              <a:t>(Blynk)</a:t>
            </a:r>
            <a:r>
              <a:rPr sz="2800" spc="55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2800" spc="-30" dirty="0">
                <a:solidFill>
                  <a:srgbClr val="3D3D3D"/>
                </a:solidFill>
                <a:latin typeface="Calibri"/>
                <a:cs typeface="Calibri"/>
              </a:rPr>
              <a:t>is</a:t>
            </a:r>
            <a:r>
              <a:rPr sz="2800" spc="-13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800" spc="-145" dirty="0">
                <a:solidFill>
                  <a:srgbClr val="3D3D3D"/>
                </a:solidFill>
                <a:latin typeface="Calibri"/>
                <a:cs typeface="Calibri"/>
              </a:rPr>
              <a:t>now</a:t>
            </a:r>
            <a:r>
              <a:rPr sz="2800" spc="-17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800" spc="-95" dirty="0">
                <a:solidFill>
                  <a:srgbClr val="343434"/>
                </a:solidFill>
                <a:latin typeface="Calibri"/>
                <a:cs typeface="Calibri"/>
              </a:rPr>
              <a:t>used</a:t>
            </a:r>
            <a:r>
              <a:rPr sz="2800" spc="-65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2800" spc="-90" dirty="0">
                <a:solidFill>
                  <a:srgbClr val="3D3D3D"/>
                </a:solidFill>
                <a:latin typeface="Calibri"/>
                <a:cs typeface="Calibri"/>
              </a:rPr>
              <a:t>only</a:t>
            </a:r>
            <a:r>
              <a:rPr sz="2800" spc="-7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800" spc="-60" dirty="0">
                <a:solidFill>
                  <a:srgbClr val="2D4256"/>
                </a:solidFill>
                <a:latin typeface="Calibri"/>
                <a:cs typeface="Calibri"/>
              </a:rPr>
              <a:t>for</a:t>
            </a:r>
            <a:r>
              <a:rPr sz="2800" spc="-75" dirty="0">
                <a:solidFill>
                  <a:srgbClr val="2D4256"/>
                </a:solidFill>
                <a:latin typeface="Calibri"/>
                <a:cs typeface="Calibri"/>
              </a:rPr>
              <a:t> </a:t>
            </a:r>
            <a:r>
              <a:rPr sz="2800" spc="-125" dirty="0">
                <a:solidFill>
                  <a:srgbClr val="3F3F3F"/>
                </a:solidFill>
                <a:latin typeface="Calibri"/>
                <a:cs typeface="Calibri"/>
              </a:rPr>
              <a:t>what</a:t>
            </a:r>
            <a:r>
              <a:rPr sz="2800" spc="-1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83838"/>
                </a:solidFill>
                <a:latin typeface="Calibri"/>
                <a:cs typeface="Calibri"/>
              </a:rPr>
              <a:t>it's </a:t>
            </a:r>
            <a:r>
              <a:rPr sz="2800" spc="-95" dirty="0">
                <a:solidFill>
                  <a:srgbClr val="343434"/>
                </a:solidFill>
                <a:latin typeface="Calibri"/>
                <a:cs typeface="Calibri"/>
              </a:rPr>
              <a:t>best</a:t>
            </a:r>
            <a:r>
              <a:rPr sz="2800" spc="-75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2800" spc="-140" dirty="0">
                <a:solidFill>
                  <a:srgbClr val="2F2F2F"/>
                </a:solidFill>
                <a:latin typeface="Calibri"/>
                <a:cs typeface="Calibri"/>
              </a:rPr>
              <a:t>at:</a:t>
            </a:r>
            <a:r>
              <a:rPr sz="2800" spc="-5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800" spc="-55" dirty="0">
                <a:solidFill>
                  <a:srgbClr val="333333"/>
                </a:solidFill>
                <a:latin typeface="Calibri"/>
                <a:cs typeface="Calibri"/>
              </a:rPr>
              <a:t>receiving</a:t>
            </a:r>
            <a:r>
              <a:rPr lang="en-US" sz="2800" spc="-55" dirty="0">
                <a:solidFill>
                  <a:srgbClr val="333333"/>
                </a:solidFill>
                <a:latin typeface="Calibri"/>
                <a:cs typeface="Calibri"/>
              </a:rPr>
              <a:t> “</a:t>
            </a:r>
            <a:r>
              <a:rPr sz="2800" spc="-55" dirty="0">
                <a:solidFill>
                  <a:srgbClr val="333333"/>
                </a:solidFill>
                <a:latin typeface="Calibri"/>
                <a:cs typeface="Calibri"/>
              </a:rPr>
              <a:t>critical</a:t>
            </a:r>
            <a:r>
              <a:rPr sz="2800" spc="-18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125" dirty="0">
                <a:solidFill>
                  <a:srgbClr val="343434"/>
                </a:solidFill>
                <a:latin typeface="Calibri"/>
                <a:cs typeface="Calibri"/>
              </a:rPr>
              <a:t>alerts</a:t>
            </a:r>
            <a:r>
              <a:rPr lang="en-US" sz="2800" spc="-125" dirty="0">
                <a:solidFill>
                  <a:srgbClr val="343434"/>
                </a:solidFill>
                <a:latin typeface="Calibri"/>
                <a:cs typeface="Calibri"/>
              </a:rPr>
              <a:t>"</a:t>
            </a:r>
            <a:r>
              <a:rPr sz="2800" spc="-75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2800" spc="-170" dirty="0">
                <a:solidFill>
                  <a:srgbClr val="383838"/>
                </a:solidFill>
                <a:latin typeface="Calibri"/>
                <a:cs typeface="Calibri"/>
              </a:rPr>
              <a:t>and</a:t>
            </a:r>
            <a:r>
              <a:rPr sz="2800" spc="-20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2800" spc="-70" dirty="0">
                <a:solidFill>
                  <a:srgbClr val="363636"/>
                </a:solidFill>
                <a:latin typeface="Calibri"/>
                <a:cs typeface="Calibri"/>
              </a:rPr>
              <a:t>displaying</a:t>
            </a:r>
            <a:r>
              <a:rPr sz="2800" spc="110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343434"/>
                </a:solidFill>
                <a:latin typeface="Calibri"/>
                <a:cs typeface="Calibri"/>
              </a:rPr>
              <a:t>the </a:t>
            </a:r>
            <a:r>
              <a:rPr sz="2800" spc="-100" dirty="0">
                <a:solidFill>
                  <a:srgbClr val="363636"/>
                </a:solidFill>
                <a:latin typeface="Calibri"/>
                <a:cs typeface="Calibri"/>
              </a:rPr>
              <a:t>system</a:t>
            </a:r>
            <a:r>
              <a:rPr sz="2800" spc="-60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2800" spc="-90" dirty="0">
                <a:solidFill>
                  <a:srgbClr val="343434"/>
                </a:solidFill>
                <a:latin typeface="Calibri"/>
                <a:cs typeface="Calibri"/>
              </a:rPr>
              <a:t>status</a:t>
            </a:r>
            <a:r>
              <a:rPr sz="2800" spc="-55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2800" spc="-130" dirty="0">
                <a:solidFill>
                  <a:srgbClr val="3D3D3D"/>
                </a:solidFill>
                <a:latin typeface="Calibri"/>
                <a:cs typeface="Calibri"/>
              </a:rPr>
              <a:t>on</a:t>
            </a:r>
            <a:r>
              <a:rPr sz="2800" spc="-13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800" spc="-60" dirty="0">
                <a:solidFill>
                  <a:srgbClr val="3D3D3D"/>
                </a:solidFill>
                <a:latin typeface="Calibri"/>
                <a:cs typeface="Calibri"/>
              </a:rPr>
              <a:t>a</a:t>
            </a:r>
            <a:r>
              <a:rPr sz="2800" spc="-20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800" spc="-95" dirty="0">
                <a:solidFill>
                  <a:srgbClr val="383838"/>
                </a:solidFill>
                <a:latin typeface="Calibri"/>
                <a:cs typeface="Calibri"/>
              </a:rPr>
              <a:t>global</a:t>
            </a:r>
            <a:r>
              <a:rPr sz="2800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43434"/>
                </a:solidFill>
                <a:latin typeface="Calibri"/>
                <a:cs typeface="Calibri"/>
              </a:rPr>
              <a:t>dashboard.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1135786"/>
            <a:ext cx="20104100" cy="17276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90"/>
              </a:spcBef>
            </a:pPr>
            <a:r>
              <a:rPr spc="120" dirty="0"/>
              <a:t>Project</a:t>
            </a:r>
            <a:r>
              <a:rPr spc="-470" dirty="0"/>
              <a:t> </a:t>
            </a:r>
            <a:r>
              <a:rPr spc="90" dirty="0">
                <a:solidFill>
                  <a:srgbClr val="131313"/>
                </a:solidFill>
              </a:rPr>
              <a:t>Methodology</a:t>
            </a:r>
            <a:r>
              <a:rPr spc="235" dirty="0">
                <a:solidFill>
                  <a:srgbClr val="131313"/>
                </a:solidFill>
              </a:rPr>
              <a:t> </a:t>
            </a:r>
            <a:r>
              <a:rPr spc="220" dirty="0">
                <a:solidFill>
                  <a:srgbClr val="1A1A1A"/>
                </a:solidFill>
              </a:rPr>
              <a:t>&amp;</a:t>
            </a:r>
            <a:r>
              <a:rPr spc="-305" dirty="0">
                <a:solidFill>
                  <a:srgbClr val="1A1A1A"/>
                </a:solidFill>
              </a:rPr>
              <a:t> </a:t>
            </a:r>
            <a:r>
              <a:rPr spc="65" dirty="0">
                <a:solidFill>
                  <a:srgbClr val="1A1A1A"/>
                </a:solidFill>
              </a:rPr>
              <a:t>Tools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74292" y="3358270"/>
            <a:ext cx="8023859" cy="38963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0995">
              <a:lnSpc>
                <a:spcPct val="100000"/>
              </a:lnSpc>
              <a:spcBef>
                <a:spcPts val="105"/>
              </a:spcBef>
              <a:buClr>
                <a:srgbClr val="2F3F57"/>
              </a:buClr>
              <a:buChar char="•"/>
              <a:tabLst>
                <a:tab pos="354965" algn="l"/>
              </a:tabLst>
            </a:pPr>
            <a:r>
              <a:rPr sz="2700" spc="-10" dirty="0">
                <a:solidFill>
                  <a:srgbClr val="3D3D3D"/>
                </a:solidFill>
                <a:latin typeface="Calibri"/>
                <a:cs typeface="Calibri"/>
              </a:rPr>
              <a:t>Edge</a:t>
            </a:r>
            <a:r>
              <a:rPr sz="2700" spc="-9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3B3B3B"/>
                </a:solidFill>
                <a:latin typeface="Calibri"/>
                <a:cs typeface="Calibri"/>
              </a:rPr>
              <a:t>Node</a:t>
            </a:r>
            <a:r>
              <a:rPr sz="2700" spc="-11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3F3F3F"/>
                </a:solidFill>
                <a:latin typeface="Calibri"/>
                <a:cs typeface="Calibri"/>
              </a:rPr>
              <a:t>(The</a:t>
            </a:r>
            <a:r>
              <a:rPr sz="2700" spc="-7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700" spc="-90" dirty="0">
                <a:solidFill>
                  <a:srgbClr val="212121"/>
                </a:solidFill>
                <a:latin typeface="Calibri"/>
                <a:cs typeface="Calibri"/>
              </a:rPr>
              <a:t>"Fog"):</a:t>
            </a:r>
            <a:r>
              <a:rPr sz="2700" spc="-1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2700" spc="85" dirty="0">
                <a:solidFill>
                  <a:srgbClr val="313131"/>
                </a:solidFill>
                <a:latin typeface="Calibri"/>
                <a:cs typeface="Calibri"/>
              </a:rPr>
              <a:t>ESP32</a:t>
            </a:r>
            <a:r>
              <a:rPr sz="2700" spc="-30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2700" spc="-10" dirty="0">
                <a:solidFill>
                  <a:srgbClr val="363636"/>
                </a:solidFill>
                <a:latin typeface="Calibri"/>
                <a:cs typeface="Calibri"/>
              </a:rPr>
              <a:t>Microcontroller</a:t>
            </a:r>
            <a:endParaRPr sz="2700">
              <a:latin typeface="Calibri"/>
              <a:cs typeface="Calibri"/>
            </a:endParaRPr>
          </a:p>
          <a:p>
            <a:pPr marL="356235" indent="-342265">
              <a:lnSpc>
                <a:spcPct val="100000"/>
              </a:lnSpc>
              <a:spcBef>
                <a:spcPts val="2570"/>
              </a:spcBef>
              <a:buClr>
                <a:srgbClr val="2D3B52"/>
              </a:buClr>
              <a:buChar char="•"/>
              <a:tabLst>
                <a:tab pos="356235" algn="l"/>
              </a:tabLst>
            </a:pPr>
            <a:r>
              <a:rPr sz="2700" dirty="0">
                <a:solidFill>
                  <a:srgbClr val="363636"/>
                </a:solidFill>
                <a:latin typeface="Calibri"/>
                <a:cs typeface="Calibri"/>
              </a:rPr>
              <a:t>Sensors:</a:t>
            </a:r>
            <a:r>
              <a:rPr sz="2700" spc="-105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2700" spc="90" dirty="0">
                <a:solidFill>
                  <a:srgbClr val="424242"/>
                </a:solidFill>
                <a:latin typeface="Calibri"/>
                <a:cs typeface="Calibri"/>
              </a:rPr>
              <a:t>PIR</a:t>
            </a:r>
            <a:r>
              <a:rPr sz="2700" spc="-15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2700" spc="-65" dirty="0">
                <a:solidFill>
                  <a:srgbClr val="313131"/>
                </a:solidFill>
                <a:latin typeface="Calibri"/>
                <a:cs typeface="Calibri"/>
              </a:rPr>
              <a:t>Motion</a:t>
            </a:r>
            <a:r>
              <a:rPr sz="2700" spc="-75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2700" spc="-10" dirty="0">
                <a:solidFill>
                  <a:srgbClr val="363636"/>
                </a:solidFill>
                <a:latin typeface="Calibri"/>
                <a:cs typeface="Calibri"/>
              </a:rPr>
              <a:t>Sensor</a:t>
            </a:r>
            <a:r>
              <a:rPr sz="2700" spc="-20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2700" spc="-25" dirty="0">
                <a:solidFill>
                  <a:srgbClr val="334957"/>
                </a:solidFill>
                <a:latin typeface="Calibri"/>
                <a:cs typeface="Calibri"/>
              </a:rPr>
              <a:t>&amp;</a:t>
            </a:r>
            <a:r>
              <a:rPr sz="2700" spc="-175" dirty="0">
                <a:solidFill>
                  <a:srgbClr val="334957"/>
                </a:solidFill>
                <a:latin typeface="Calibri"/>
                <a:cs typeface="Calibri"/>
              </a:rPr>
              <a:t> </a:t>
            </a:r>
            <a:r>
              <a:rPr sz="2700" spc="120" dirty="0">
                <a:solidFill>
                  <a:srgbClr val="233D54"/>
                </a:solidFill>
                <a:latin typeface="Calibri"/>
                <a:cs typeface="Calibri"/>
              </a:rPr>
              <a:t>LDR</a:t>
            </a:r>
            <a:r>
              <a:rPr sz="2700" spc="-120" dirty="0">
                <a:solidFill>
                  <a:srgbClr val="233D54"/>
                </a:solidFill>
                <a:latin typeface="Calibri"/>
                <a:cs typeface="Calibri"/>
              </a:rPr>
              <a:t> </a:t>
            </a:r>
            <a:r>
              <a:rPr sz="2700" spc="-10" dirty="0">
                <a:solidFill>
                  <a:srgbClr val="383838"/>
                </a:solidFill>
                <a:latin typeface="Calibri"/>
                <a:cs typeface="Calibri"/>
              </a:rPr>
              <a:t>Light</a:t>
            </a:r>
            <a:r>
              <a:rPr sz="2700" spc="-35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2700" spc="-10" dirty="0">
                <a:solidFill>
                  <a:srgbClr val="333333"/>
                </a:solidFill>
                <a:latin typeface="Calibri"/>
                <a:cs typeface="Calibri"/>
              </a:rPr>
              <a:t>Sensor</a:t>
            </a:r>
            <a:endParaRPr sz="2700">
              <a:latin typeface="Calibri"/>
              <a:cs typeface="Calibri"/>
            </a:endParaRPr>
          </a:p>
          <a:p>
            <a:pPr marL="363855" indent="-349885">
              <a:lnSpc>
                <a:spcPct val="100000"/>
              </a:lnSpc>
              <a:spcBef>
                <a:spcPts val="2575"/>
              </a:spcBef>
              <a:buClr>
                <a:srgbClr val="34445B"/>
              </a:buClr>
              <a:buChar char="•"/>
              <a:tabLst>
                <a:tab pos="363855" algn="l"/>
              </a:tabLst>
            </a:pPr>
            <a:r>
              <a:rPr sz="2700" spc="-30" dirty="0">
                <a:solidFill>
                  <a:srgbClr val="313131"/>
                </a:solidFill>
                <a:latin typeface="Calibri"/>
                <a:cs typeface="Calibri"/>
              </a:rPr>
              <a:t>Simulation:</a:t>
            </a:r>
            <a:r>
              <a:rPr sz="2700" spc="-120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2700" spc="-10" dirty="0">
                <a:solidFill>
                  <a:srgbClr val="383838"/>
                </a:solidFill>
                <a:latin typeface="Calibri"/>
                <a:cs typeface="Calibri"/>
              </a:rPr>
              <a:t>Wokwi</a:t>
            </a:r>
            <a:r>
              <a:rPr sz="2700" spc="-65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343434"/>
                </a:solidFill>
                <a:latin typeface="Calibri"/>
                <a:cs typeface="Calibri"/>
              </a:rPr>
              <a:t>Virtual</a:t>
            </a:r>
            <a:r>
              <a:rPr sz="2700" spc="-85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2700" spc="-10" dirty="0">
                <a:solidFill>
                  <a:srgbClr val="2F2F2F"/>
                </a:solidFill>
                <a:latin typeface="Calibri"/>
                <a:cs typeface="Calibri"/>
              </a:rPr>
              <a:t>Environment</a:t>
            </a:r>
            <a:endParaRPr sz="2700">
              <a:latin typeface="Calibri"/>
              <a:cs typeface="Calibri"/>
            </a:endParaRPr>
          </a:p>
          <a:p>
            <a:pPr marL="351790" indent="-337820">
              <a:lnSpc>
                <a:spcPct val="100000"/>
              </a:lnSpc>
              <a:spcBef>
                <a:spcPts val="2570"/>
              </a:spcBef>
              <a:buClr>
                <a:srgbClr val="24344B"/>
              </a:buClr>
              <a:buChar char="•"/>
              <a:tabLst>
                <a:tab pos="351790" algn="l"/>
              </a:tabLst>
            </a:pPr>
            <a:r>
              <a:rPr sz="2700" dirty="0">
                <a:solidFill>
                  <a:srgbClr val="3B3B3B"/>
                </a:solidFill>
                <a:latin typeface="Calibri"/>
                <a:cs typeface="Calibri"/>
              </a:rPr>
              <a:t>Cloud</a:t>
            </a:r>
            <a:r>
              <a:rPr sz="2700" spc="-14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700" spc="-20" dirty="0">
                <a:solidFill>
                  <a:srgbClr val="3B3B3B"/>
                </a:solidFill>
                <a:latin typeface="Calibri"/>
                <a:cs typeface="Calibri"/>
              </a:rPr>
              <a:t>Dashboard:</a:t>
            </a:r>
            <a:r>
              <a:rPr sz="270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343434"/>
                </a:solidFill>
                <a:latin typeface="Calibri"/>
                <a:cs typeface="Calibri"/>
              </a:rPr>
              <a:t>Blynk</a:t>
            </a:r>
            <a:r>
              <a:rPr sz="2700" spc="-50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343434"/>
                </a:solidFill>
                <a:latin typeface="Calibri"/>
                <a:cs typeface="Calibri"/>
              </a:rPr>
              <a:t>IoT</a:t>
            </a:r>
            <a:r>
              <a:rPr sz="2700" spc="-20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2700" spc="-10" dirty="0">
                <a:solidFill>
                  <a:srgbClr val="2F2F2F"/>
                </a:solidFill>
                <a:latin typeface="Calibri"/>
                <a:cs typeface="Calibri"/>
              </a:rPr>
              <a:t>Platform</a:t>
            </a:r>
            <a:endParaRPr sz="2700">
              <a:latin typeface="Calibri"/>
              <a:cs typeface="Calibri"/>
            </a:endParaRPr>
          </a:p>
          <a:p>
            <a:pPr marL="353695" marR="5080" indent="-341630">
              <a:lnSpc>
                <a:spcPct val="117800"/>
              </a:lnSpc>
              <a:spcBef>
                <a:spcPts val="1875"/>
              </a:spcBef>
              <a:buClr>
                <a:srgbClr val="2F3F56"/>
              </a:buClr>
              <a:buChar char="•"/>
              <a:tabLst>
                <a:tab pos="362585" algn="l"/>
              </a:tabLst>
            </a:pPr>
            <a:r>
              <a:rPr sz="2800" spc="-40" dirty="0">
                <a:solidFill>
                  <a:srgbClr val="3A3A3A"/>
                </a:solidFill>
                <a:latin typeface="Calibri"/>
                <a:cs typeface="Calibri"/>
              </a:rPr>
              <a:t>Logic:</a:t>
            </a:r>
            <a:r>
              <a:rPr sz="2800" spc="-55" dirty="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sz="2800" spc="-75" dirty="0">
                <a:solidFill>
                  <a:srgbClr val="3F3F3F"/>
                </a:solidFill>
                <a:latin typeface="Calibri"/>
                <a:cs typeface="Calibri"/>
              </a:rPr>
              <a:t>Local</a:t>
            </a:r>
            <a:r>
              <a:rPr sz="28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70" dirty="0">
                <a:solidFill>
                  <a:srgbClr val="343434"/>
                </a:solidFill>
                <a:latin typeface="Calibri"/>
                <a:cs typeface="Calibri"/>
              </a:rPr>
              <a:t>processing</a:t>
            </a:r>
            <a:r>
              <a:rPr sz="2800" spc="-5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2800" spc="-130" dirty="0">
                <a:solidFill>
                  <a:srgbClr val="3F3F3F"/>
                </a:solidFill>
                <a:latin typeface="Calibri"/>
                <a:cs typeface="Calibri"/>
              </a:rPr>
              <a:t>on</a:t>
            </a:r>
            <a:r>
              <a:rPr sz="2800" spc="-1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30" dirty="0">
                <a:solidFill>
                  <a:srgbClr val="383838"/>
                </a:solidFill>
                <a:latin typeface="Calibri"/>
                <a:cs typeface="Calibri"/>
              </a:rPr>
              <a:t>the</a:t>
            </a:r>
            <a:r>
              <a:rPr sz="2800" spc="-100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83838"/>
                </a:solidFill>
                <a:latin typeface="Calibri"/>
                <a:cs typeface="Calibri"/>
              </a:rPr>
              <a:t>ESP32</a:t>
            </a:r>
            <a:r>
              <a:rPr sz="2800" spc="15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2800" spc="-100" dirty="0">
                <a:solidFill>
                  <a:srgbClr val="3D3D3D"/>
                </a:solidFill>
                <a:latin typeface="Calibri"/>
                <a:cs typeface="Calibri"/>
              </a:rPr>
              <a:t>to</a:t>
            </a:r>
            <a:r>
              <a:rPr sz="2800" spc="-14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800" spc="-85" dirty="0">
                <a:solidFill>
                  <a:srgbClr val="2F2F2F"/>
                </a:solidFill>
                <a:latin typeface="Calibri"/>
                <a:cs typeface="Calibri"/>
              </a:rPr>
              <a:t>filter</a:t>
            </a:r>
            <a:r>
              <a:rPr sz="2800" spc="-4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800" spc="-105" dirty="0">
                <a:solidFill>
                  <a:srgbClr val="363636"/>
                </a:solidFill>
                <a:latin typeface="Calibri"/>
                <a:cs typeface="Calibri"/>
              </a:rPr>
              <a:t>data</a:t>
            </a:r>
            <a:r>
              <a:rPr sz="2800" spc="-145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2800" spc="-80" dirty="0">
                <a:solidFill>
                  <a:srgbClr val="363636"/>
                </a:solidFill>
                <a:latin typeface="Calibri"/>
                <a:cs typeface="Calibri"/>
              </a:rPr>
              <a:t>before 	</a:t>
            </a:r>
            <a:r>
              <a:rPr sz="2800" spc="-35" dirty="0">
                <a:solidFill>
                  <a:srgbClr val="363636"/>
                </a:solidFill>
                <a:latin typeface="Calibri"/>
                <a:cs typeface="Calibri"/>
              </a:rPr>
              <a:t>transmission.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1135786"/>
            <a:ext cx="20104100" cy="17276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46990">
              <a:lnSpc>
                <a:spcPct val="100000"/>
              </a:lnSpc>
              <a:spcBef>
                <a:spcPts val="120"/>
              </a:spcBef>
            </a:pPr>
            <a:r>
              <a:rPr sz="6550" spc="245" dirty="0">
                <a:solidFill>
                  <a:srgbClr val="161616"/>
                </a:solidFill>
              </a:rPr>
              <a:t>System</a:t>
            </a:r>
            <a:r>
              <a:rPr sz="6550" spc="-135" dirty="0">
                <a:solidFill>
                  <a:srgbClr val="161616"/>
                </a:solidFill>
              </a:rPr>
              <a:t> </a:t>
            </a:r>
            <a:r>
              <a:rPr sz="6550" spc="95" dirty="0">
                <a:solidFill>
                  <a:srgbClr val="161616"/>
                </a:solidFill>
              </a:rPr>
              <a:t>Architecture</a:t>
            </a:r>
            <a:endParaRPr sz="6550"/>
          </a:p>
        </p:txBody>
      </p:sp>
      <p:sp>
        <p:nvSpPr>
          <p:cNvPr id="4" name="object 4"/>
          <p:cNvSpPr txBox="1"/>
          <p:nvPr/>
        </p:nvSpPr>
        <p:spPr>
          <a:xfrm>
            <a:off x="893950" y="2515364"/>
            <a:ext cx="5977255" cy="7518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4665980" algn="l"/>
              </a:tabLst>
            </a:pPr>
            <a:r>
              <a:rPr sz="4750" spc="-710" dirty="0">
                <a:solidFill>
                  <a:srgbClr val="0A9582"/>
                </a:solidFill>
                <a:latin typeface="Calibri"/>
                <a:cs typeface="Calibri"/>
              </a:rPr>
              <a:t>1.</a:t>
            </a:r>
            <a:r>
              <a:rPr sz="4750" spc="45" dirty="0">
                <a:solidFill>
                  <a:srgbClr val="0A9582"/>
                </a:solidFill>
                <a:latin typeface="Calibri"/>
                <a:cs typeface="Calibri"/>
              </a:rPr>
              <a:t> </a:t>
            </a:r>
            <a:r>
              <a:rPr sz="4750" dirty="0">
                <a:solidFill>
                  <a:srgbClr val="119389"/>
                </a:solidFill>
                <a:latin typeface="Calibri"/>
                <a:cs typeface="Calibri"/>
              </a:rPr>
              <a:t>Local</a:t>
            </a:r>
            <a:r>
              <a:rPr sz="4750" spc="-35" dirty="0">
                <a:solidFill>
                  <a:srgbClr val="119389"/>
                </a:solidFill>
                <a:latin typeface="Calibri"/>
                <a:cs typeface="Calibri"/>
              </a:rPr>
              <a:t> </a:t>
            </a:r>
            <a:r>
              <a:rPr sz="4750" spc="-10" dirty="0">
                <a:solidFill>
                  <a:srgbClr val="0E9183"/>
                </a:solidFill>
                <a:latin typeface="Calibri"/>
                <a:cs typeface="Calibri"/>
              </a:rPr>
              <a:t>Processing</a:t>
            </a:r>
            <a:r>
              <a:rPr sz="4750" dirty="0">
                <a:solidFill>
                  <a:srgbClr val="0E9183"/>
                </a:solidFill>
                <a:latin typeface="Calibri"/>
                <a:cs typeface="Calibri"/>
              </a:rPr>
              <a:t>	</a:t>
            </a:r>
            <a:r>
              <a:rPr sz="4750" spc="50" dirty="0">
                <a:solidFill>
                  <a:srgbClr val="0C9380"/>
                </a:solidFill>
                <a:latin typeface="Calibri"/>
                <a:cs typeface="Calibri"/>
              </a:rPr>
              <a:t>(Fog)</a:t>
            </a:r>
            <a:endParaRPr sz="47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26350" y="3820953"/>
            <a:ext cx="8580755" cy="10306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8255">
              <a:lnSpc>
                <a:spcPct val="117800"/>
              </a:lnSpc>
              <a:spcBef>
                <a:spcPts val="90"/>
              </a:spcBef>
              <a:tabLst>
                <a:tab pos="3652520" algn="l"/>
                <a:tab pos="3989704" algn="l"/>
              </a:tabLst>
            </a:pPr>
            <a:r>
              <a:rPr sz="2800" spc="-80" dirty="0">
                <a:solidFill>
                  <a:srgbClr val="334167"/>
                </a:solidFill>
                <a:latin typeface="Calibri"/>
                <a:cs typeface="Calibri"/>
              </a:rPr>
              <a:t>The</a:t>
            </a:r>
            <a:r>
              <a:rPr sz="2800" spc="-90" dirty="0">
                <a:solidFill>
                  <a:srgbClr val="334167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43434"/>
                </a:solidFill>
                <a:latin typeface="Calibri"/>
                <a:cs typeface="Calibri"/>
              </a:rPr>
              <a:t>ESP32</a:t>
            </a:r>
            <a:r>
              <a:rPr sz="2800" spc="15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2800" spc="-90" dirty="0">
                <a:solidFill>
                  <a:srgbClr val="383838"/>
                </a:solidFill>
                <a:latin typeface="Calibri"/>
                <a:cs typeface="Calibri"/>
              </a:rPr>
              <a:t>constantly</a:t>
            </a:r>
            <a:r>
              <a:rPr sz="2800" spc="110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2800" spc="-80" dirty="0">
                <a:solidFill>
                  <a:srgbClr val="343434"/>
                </a:solidFill>
                <a:latin typeface="Calibri"/>
                <a:cs typeface="Calibri"/>
              </a:rPr>
              <a:t>reads</a:t>
            </a:r>
            <a:r>
              <a:rPr sz="2800" spc="90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2800" spc="-130" dirty="0">
                <a:solidFill>
                  <a:srgbClr val="363636"/>
                </a:solidFill>
                <a:latin typeface="Calibri"/>
                <a:cs typeface="Calibri"/>
              </a:rPr>
              <a:t>the</a:t>
            </a:r>
            <a:r>
              <a:rPr sz="2800" spc="-85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13D6B"/>
                </a:solidFill>
                <a:latin typeface="Calibri"/>
                <a:cs typeface="Calibri"/>
              </a:rPr>
              <a:t>PIR</a:t>
            </a:r>
            <a:r>
              <a:rPr sz="2800" spc="-110" dirty="0">
                <a:solidFill>
                  <a:srgbClr val="313D6B"/>
                </a:solidFill>
                <a:latin typeface="Calibri"/>
                <a:cs typeface="Calibri"/>
              </a:rPr>
              <a:t> </a:t>
            </a:r>
            <a:r>
              <a:rPr sz="2800" spc="-130" dirty="0">
                <a:solidFill>
                  <a:srgbClr val="313131"/>
                </a:solidFill>
                <a:latin typeface="Calibri"/>
                <a:cs typeface="Calibri"/>
              </a:rPr>
              <a:t>sensor.</a:t>
            </a:r>
            <a:r>
              <a:rPr sz="2800" spc="-55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64259"/>
                </a:solidFill>
                <a:latin typeface="Calibri"/>
                <a:cs typeface="Calibri"/>
              </a:rPr>
              <a:t>It</a:t>
            </a:r>
            <a:r>
              <a:rPr sz="2800" spc="-215" dirty="0">
                <a:solidFill>
                  <a:srgbClr val="364259"/>
                </a:solidFill>
                <a:latin typeface="Calibri"/>
                <a:cs typeface="Calibri"/>
              </a:rPr>
              <a:t> </a:t>
            </a:r>
            <a:r>
              <a:rPr sz="2800" spc="-170" dirty="0">
                <a:solidFill>
                  <a:srgbClr val="262626"/>
                </a:solidFill>
                <a:latin typeface="Calibri"/>
                <a:cs typeface="Calibri"/>
              </a:rPr>
              <a:t>makes</a:t>
            </a:r>
            <a:r>
              <a:rPr sz="2800" spc="50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2800" spc="-114" dirty="0">
                <a:solidFill>
                  <a:srgbClr val="3D495D"/>
                </a:solidFill>
                <a:latin typeface="Calibri"/>
                <a:cs typeface="Calibri"/>
              </a:rPr>
              <a:t>an</a:t>
            </a:r>
            <a:r>
              <a:rPr sz="2800" spc="-145" dirty="0">
                <a:solidFill>
                  <a:srgbClr val="3D495D"/>
                </a:solidFill>
                <a:latin typeface="Calibri"/>
                <a:cs typeface="Calibri"/>
              </a:rPr>
              <a:t> </a:t>
            </a:r>
            <a:r>
              <a:rPr sz="2800" spc="-110" dirty="0">
                <a:solidFill>
                  <a:srgbClr val="363636"/>
                </a:solidFill>
                <a:latin typeface="Calibri"/>
                <a:cs typeface="Calibri"/>
              </a:rPr>
              <a:t>*instant </a:t>
            </a:r>
            <a:r>
              <a:rPr sz="2800" spc="-85" dirty="0">
                <a:solidFill>
                  <a:srgbClr val="343434"/>
                </a:solidFill>
                <a:latin typeface="Calibri"/>
                <a:cs typeface="Calibri"/>
              </a:rPr>
              <a:t>local</a:t>
            </a:r>
            <a:r>
              <a:rPr sz="2800" spc="-75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2800" spc="-65" dirty="0">
                <a:solidFill>
                  <a:srgbClr val="313131"/>
                </a:solidFill>
                <a:latin typeface="Calibri"/>
                <a:cs typeface="Calibri"/>
              </a:rPr>
              <a:t>decision’</a:t>
            </a:r>
            <a:r>
              <a:rPr sz="2800" spc="-30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2800" spc="-30" dirty="0">
                <a:solidFill>
                  <a:srgbClr val="2D4256"/>
                </a:solidFill>
                <a:latin typeface="Calibri"/>
                <a:cs typeface="Calibri"/>
              </a:rPr>
              <a:t>if</a:t>
            </a:r>
            <a:r>
              <a:rPr sz="2800" spc="-75" dirty="0">
                <a:solidFill>
                  <a:srgbClr val="2D4256"/>
                </a:solidFill>
                <a:latin typeface="Calibri"/>
                <a:cs typeface="Calibri"/>
              </a:rPr>
              <a:t> </a:t>
            </a:r>
            <a:r>
              <a:rPr sz="2800" spc="-140" dirty="0">
                <a:solidFill>
                  <a:srgbClr val="363636"/>
                </a:solidFill>
                <a:latin typeface="Calibri"/>
                <a:cs typeface="Calibri"/>
              </a:rPr>
              <a:t>motion</a:t>
            </a:r>
            <a:r>
              <a:rPr sz="2800" spc="-20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2D2D2D"/>
                </a:solidFill>
                <a:latin typeface="Calibri"/>
                <a:cs typeface="Calibri"/>
              </a:rPr>
              <a:t>is</a:t>
            </a:r>
            <a:r>
              <a:rPr sz="2800" dirty="0">
                <a:solidFill>
                  <a:srgbClr val="2D2D2D"/>
                </a:solidFill>
                <a:latin typeface="Calibri"/>
                <a:cs typeface="Calibri"/>
              </a:rPr>
              <a:t>	</a:t>
            </a:r>
            <a:r>
              <a:rPr sz="2800" spc="-50" dirty="0">
                <a:solidFill>
                  <a:srgbClr val="3A3A3A"/>
                </a:solidFill>
                <a:latin typeface="Calibri"/>
                <a:cs typeface="Calibri"/>
              </a:rPr>
              <a:t>1</a:t>
            </a:r>
            <a:r>
              <a:rPr sz="2800" dirty="0">
                <a:solidFill>
                  <a:srgbClr val="3A3A3A"/>
                </a:solidFill>
                <a:latin typeface="Calibri"/>
                <a:cs typeface="Calibri"/>
              </a:rPr>
              <a:t>	</a:t>
            </a:r>
            <a:r>
              <a:rPr sz="2800" spc="-40" dirty="0">
                <a:solidFill>
                  <a:srgbClr val="2D2D2D"/>
                </a:solidFill>
                <a:latin typeface="Calibri"/>
                <a:cs typeface="Calibri"/>
              </a:rPr>
              <a:t>(Detected).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9538" y="5075496"/>
            <a:ext cx="5531485" cy="7518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4750" spc="-210" dirty="0">
                <a:solidFill>
                  <a:srgbClr val="00998C"/>
                </a:solidFill>
                <a:latin typeface="Calibri"/>
                <a:cs typeface="Calibri"/>
              </a:rPr>
              <a:t>2.</a:t>
            </a:r>
            <a:r>
              <a:rPr sz="4750" spc="-175" dirty="0">
                <a:solidFill>
                  <a:srgbClr val="00998C"/>
                </a:solidFill>
                <a:latin typeface="Calibri"/>
                <a:cs typeface="Calibri"/>
              </a:rPr>
              <a:t> </a:t>
            </a:r>
            <a:r>
              <a:rPr sz="4750" dirty="0">
                <a:solidFill>
                  <a:srgbClr val="169782"/>
                </a:solidFill>
                <a:latin typeface="Calibri"/>
                <a:cs typeface="Calibri"/>
              </a:rPr>
              <a:t>Critical</a:t>
            </a:r>
            <a:r>
              <a:rPr sz="4750" spc="40" dirty="0">
                <a:solidFill>
                  <a:srgbClr val="169782"/>
                </a:solidFill>
                <a:latin typeface="Calibri"/>
                <a:cs typeface="Calibri"/>
              </a:rPr>
              <a:t> </a:t>
            </a:r>
            <a:r>
              <a:rPr sz="4750" spc="-105" dirty="0">
                <a:solidFill>
                  <a:srgbClr val="0C9587"/>
                </a:solidFill>
                <a:latin typeface="Calibri"/>
                <a:cs typeface="Calibri"/>
              </a:rPr>
              <a:t>Alert</a:t>
            </a:r>
            <a:r>
              <a:rPr sz="4750" spc="245" dirty="0">
                <a:solidFill>
                  <a:srgbClr val="0C9587"/>
                </a:solidFill>
                <a:latin typeface="Calibri"/>
                <a:cs typeface="Calibri"/>
              </a:rPr>
              <a:t> </a:t>
            </a:r>
            <a:r>
              <a:rPr sz="4750" spc="45" dirty="0">
                <a:solidFill>
                  <a:srgbClr val="13937E"/>
                </a:solidFill>
                <a:latin typeface="Calibri"/>
                <a:cs typeface="Calibri"/>
              </a:rPr>
              <a:t>(Cloud)</a:t>
            </a:r>
            <a:endParaRPr sz="47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20131" y="6381084"/>
            <a:ext cx="8421370" cy="10306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2225" marR="5080" indent="-10160">
              <a:lnSpc>
                <a:spcPct val="117800"/>
              </a:lnSpc>
              <a:spcBef>
                <a:spcPts val="90"/>
              </a:spcBef>
            </a:pPr>
            <a:r>
              <a:rPr sz="2800" dirty="0">
                <a:solidFill>
                  <a:srgbClr val="3B3B3B"/>
                </a:solidFill>
                <a:latin typeface="Calibri"/>
                <a:cs typeface="Calibri"/>
              </a:rPr>
              <a:t>Only</a:t>
            </a:r>
            <a:r>
              <a:rPr sz="2800" spc="-14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83838"/>
                </a:solidFill>
                <a:latin typeface="Calibri"/>
                <a:cs typeface="Calibri"/>
              </a:rPr>
              <a:t>if</a:t>
            </a:r>
            <a:r>
              <a:rPr sz="2800" spc="-114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2800" spc="-90" dirty="0">
                <a:solidFill>
                  <a:srgbClr val="3A3A3A"/>
                </a:solidFill>
                <a:latin typeface="Calibri"/>
                <a:cs typeface="Calibri"/>
              </a:rPr>
              <a:t>motion</a:t>
            </a:r>
            <a:r>
              <a:rPr sz="2800" spc="-75" dirty="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sz="2800" spc="-35" dirty="0">
                <a:solidFill>
                  <a:srgbClr val="3B3B3B"/>
                </a:solidFill>
                <a:latin typeface="Calibri"/>
                <a:cs typeface="Calibri"/>
              </a:rPr>
              <a:t>is</a:t>
            </a:r>
            <a:r>
              <a:rPr sz="2800" spc="-17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800" spc="-40" dirty="0">
                <a:solidFill>
                  <a:srgbClr val="343434"/>
                </a:solidFill>
                <a:latin typeface="Calibri"/>
                <a:cs typeface="Calibri"/>
              </a:rPr>
              <a:t>detected,</a:t>
            </a:r>
            <a:r>
              <a:rPr sz="2800" spc="-10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2800" spc="-130" dirty="0">
                <a:solidFill>
                  <a:srgbClr val="343434"/>
                </a:solidFill>
                <a:latin typeface="Calibri"/>
                <a:cs typeface="Calibri"/>
              </a:rPr>
              <a:t>the</a:t>
            </a:r>
            <a:r>
              <a:rPr sz="2800" spc="-105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13131"/>
                </a:solidFill>
                <a:latin typeface="Calibri"/>
                <a:cs typeface="Calibri"/>
              </a:rPr>
              <a:t>ESP32</a:t>
            </a:r>
            <a:r>
              <a:rPr sz="2800" spc="-5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2800" spc="-110" dirty="0">
                <a:solidFill>
                  <a:srgbClr val="2D2D2D"/>
                </a:solidFill>
                <a:latin typeface="Calibri"/>
                <a:cs typeface="Calibri"/>
              </a:rPr>
              <a:t>sends</a:t>
            </a:r>
            <a:r>
              <a:rPr sz="2800" spc="10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2800" spc="-60" dirty="0">
                <a:solidFill>
                  <a:srgbClr val="343434"/>
                </a:solidFill>
                <a:latin typeface="Calibri"/>
                <a:cs typeface="Calibri"/>
              </a:rPr>
              <a:t>a</a:t>
            </a:r>
            <a:r>
              <a:rPr sz="2800" spc="-195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2800" spc="-65" dirty="0">
                <a:solidFill>
                  <a:srgbClr val="2D2D2D"/>
                </a:solidFill>
                <a:latin typeface="Calibri"/>
                <a:cs typeface="Calibri"/>
              </a:rPr>
              <a:t>"Security</a:t>
            </a:r>
            <a:r>
              <a:rPr sz="2800" spc="75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2800" spc="-35" dirty="0">
                <a:solidFill>
                  <a:srgbClr val="2B2B2B"/>
                </a:solidFill>
                <a:latin typeface="Calibri"/>
                <a:cs typeface="Calibri"/>
              </a:rPr>
              <a:t>Alert" </a:t>
            </a:r>
            <a:r>
              <a:rPr sz="2800" spc="-10" dirty="0">
                <a:solidFill>
                  <a:srgbClr val="343434"/>
                </a:solidFill>
                <a:latin typeface="Calibri"/>
                <a:cs typeface="Calibri"/>
              </a:rPr>
              <a:t>(V1)</a:t>
            </a:r>
            <a:r>
              <a:rPr sz="2800" spc="-120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2800" spc="-170" dirty="0">
                <a:solidFill>
                  <a:srgbClr val="2D2D2D"/>
                </a:solidFill>
                <a:latin typeface="Calibri"/>
                <a:cs typeface="Calibri"/>
              </a:rPr>
              <a:t>and</a:t>
            </a:r>
            <a:r>
              <a:rPr sz="2800" spc="-25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2800" spc="-80" dirty="0">
                <a:solidFill>
                  <a:srgbClr val="343434"/>
                </a:solidFill>
                <a:latin typeface="Calibri"/>
                <a:cs typeface="Calibri"/>
              </a:rPr>
              <a:t>sensor</a:t>
            </a:r>
            <a:r>
              <a:rPr sz="2800" spc="15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2800" spc="-110" dirty="0">
                <a:solidFill>
                  <a:srgbClr val="313131"/>
                </a:solidFill>
                <a:latin typeface="Calibri"/>
                <a:cs typeface="Calibri"/>
              </a:rPr>
              <a:t>data</a:t>
            </a:r>
            <a:r>
              <a:rPr sz="2800" spc="-120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2800" spc="-30" dirty="0">
                <a:solidFill>
                  <a:srgbClr val="2D2D2D"/>
                </a:solidFill>
                <a:latin typeface="Calibri"/>
                <a:cs typeface="Calibri"/>
              </a:rPr>
              <a:t>(V2,</a:t>
            </a:r>
            <a:r>
              <a:rPr sz="2800" spc="-145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A3A3A"/>
                </a:solidFill>
                <a:latin typeface="Calibri"/>
                <a:cs typeface="Calibri"/>
              </a:rPr>
              <a:t>V3)</a:t>
            </a:r>
            <a:r>
              <a:rPr sz="2800" spc="-50" dirty="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sz="2800" spc="-105" dirty="0">
                <a:solidFill>
                  <a:srgbClr val="2F2F2F"/>
                </a:solidFill>
                <a:latin typeface="Calibri"/>
                <a:cs typeface="Calibri"/>
              </a:rPr>
              <a:t>to</a:t>
            </a:r>
            <a:r>
              <a:rPr sz="2800" spc="-14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800" spc="-130" dirty="0">
                <a:solidFill>
                  <a:srgbClr val="2B2B2B"/>
                </a:solidFill>
                <a:latin typeface="Calibri"/>
                <a:cs typeface="Calibri"/>
              </a:rPr>
              <a:t>the</a:t>
            </a:r>
            <a:r>
              <a:rPr sz="2800" spc="-10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2800" spc="-35" dirty="0">
                <a:solidFill>
                  <a:srgbClr val="343434"/>
                </a:solidFill>
                <a:latin typeface="Calibri"/>
                <a:cs typeface="Calibri"/>
              </a:rPr>
              <a:t>Blynk</a:t>
            </a:r>
            <a:r>
              <a:rPr sz="2800" spc="-95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2F2F2F"/>
                </a:solidFill>
                <a:latin typeface="Calibri"/>
                <a:cs typeface="Calibri"/>
              </a:rPr>
              <a:t>cloud.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22791" y="7635627"/>
            <a:ext cx="4975860" cy="7518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4750" spc="-225" dirty="0">
                <a:solidFill>
                  <a:srgbClr val="019079"/>
                </a:solidFill>
                <a:latin typeface="Calibri"/>
                <a:cs typeface="Calibri"/>
              </a:rPr>
              <a:t>3.</a:t>
            </a:r>
            <a:r>
              <a:rPr sz="4750" spc="-150" dirty="0">
                <a:solidFill>
                  <a:srgbClr val="019079"/>
                </a:solidFill>
                <a:latin typeface="Calibri"/>
                <a:cs typeface="Calibri"/>
              </a:rPr>
              <a:t> </a:t>
            </a:r>
            <a:r>
              <a:rPr sz="4750" dirty="0">
                <a:solidFill>
                  <a:srgbClr val="159A89"/>
                </a:solidFill>
                <a:latin typeface="Calibri"/>
                <a:cs typeface="Calibri"/>
              </a:rPr>
              <a:t>Global</a:t>
            </a:r>
            <a:r>
              <a:rPr sz="4750" spc="-160" dirty="0">
                <a:solidFill>
                  <a:srgbClr val="159A89"/>
                </a:solidFill>
                <a:latin typeface="Calibri"/>
                <a:cs typeface="Calibri"/>
              </a:rPr>
              <a:t> </a:t>
            </a:r>
            <a:r>
              <a:rPr sz="4750" spc="-10" dirty="0">
                <a:solidFill>
                  <a:srgbClr val="059585"/>
                </a:solidFill>
                <a:latin typeface="Calibri"/>
                <a:cs typeface="Calibri"/>
              </a:rPr>
              <a:t>Dashboard</a:t>
            </a:r>
            <a:endParaRPr sz="47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20366" y="8941216"/>
            <a:ext cx="8513445" cy="15335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13970">
              <a:lnSpc>
                <a:spcPct val="117800"/>
              </a:lnSpc>
              <a:spcBef>
                <a:spcPts val="90"/>
              </a:spcBef>
            </a:pPr>
            <a:r>
              <a:rPr sz="2800" spc="-80" dirty="0">
                <a:solidFill>
                  <a:srgbClr val="383838"/>
                </a:solidFill>
                <a:latin typeface="Calibri"/>
                <a:cs typeface="Calibri"/>
              </a:rPr>
              <a:t>The</a:t>
            </a:r>
            <a:r>
              <a:rPr sz="2800" spc="-110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2800" spc="-35" dirty="0">
                <a:solidFill>
                  <a:srgbClr val="343434"/>
                </a:solidFill>
                <a:latin typeface="Calibri"/>
                <a:cs typeface="Calibri"/>
              </a:rPr>
              <a:t>Blynk</a:t>
            </a:r>
            <a:r>
              <a:rPr sz="2800" spc="-125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2800" spc="-125" dirty="0">
                <a:solidFill>
                  <a:srgbClr val="363636"/>
                </a:solidFill>
                <a:latin typeface="Calibri"/>
                <a:cs typeface="Calibri"/>
              </a:rPr>
              <a:t>app</a:t>
            </a:r>
            <a:r>
              <a:rPr sz="2800" spc="-120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2800" spc="-80" dirty="0">
                <a:solidFill>
                  <a:srgbClr val="2F2F2F"/>
                </a:solidFill>
                <a:latin typeface="Calibri"/>
                <a:cs typeface="Calibri"/>
              </a:rPr>
              <a:t>instantly</a:t>
            </a:r>
            <a:r>
              <a:rPr sz="2800" spc="-5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800" spc="-55" dirty="0">
                <a:solidFill>
                  <a:srgbClr val="363636"/>
                </a:solidFill>
                <a:latin typeface="Calibri"/>
                <a:cs typeface="Calibri"/>
              </a:rPr>
              <a:t>displays</a:t>
            </a:r>
            <a:r>
              <a:rPr sz="2800" spc="35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2800" spc="-130" dirty="0">
                <a:solidFill>
                  <a:srgbClr val="383838"/>
                </a:solidFill>
                <a:latin typeface="Calibri"/>
                <a:cs typeface="Calibri"/>
              </a:rPr>
              <a:t>the</a:t>
            </a:r>
            <a:r>
              <a:rPr sz="2800" spc="-105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2800" spc="65" dirty="0">
                <a:solidFill>
                  <a:srgbClr val="1C3B57"/>
                </a:solidFill>
                <a:latin typeface="Calibri"/>
                <a:cs typeface="Calibri"/>
              </a:rPr>
              <a:t>LED</a:t>
            </a:r>
            <a:r>
              <a:rPr sz="2800" spc="-75" dirty="0">
                <a:solidFill>
                  <a:srgbClr val="1C3B57"/>
                </a:solidFill>
                <a:latin typeface="Calibri"/>
                <a:cs typeface="Calibri"/>
              </a:rPr>
              <a:t> </a:t>
            </a:r>
            <a:r>
              <a:rPr sz="2800" spc="-85" dirty="0">
                <a:solidFill>
                  <a:srgbClr val="383838"/>
                </a:solidFill>
                <a:latin typeface="Calibri"/>
                <a:cs typeface="Calibri"/>
              </a:rPr>
              <a:t>alert</a:t>
            </a:r>
            <a:r>
              <a:rPr sz="2800" spc="-110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2800" spc="-170" dirty="0">
                <a:solidFill>
                  <a:srgbClr val="2D2D2D"/>
                </a:solidFill>
                <a:latin typeface="Calibri"/>
                <a:cs typeface="Calibri"/>
              </a:rPr>
              <a:t>and</a:t>
            </a:r>
            <a:r>
              <a:rPr sz="2800" spc="-120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2F2F2F"/>
                </a:solidFill>
                <a:latin typeface="Calibri"/>
                <a:cs typeface="Calibri"/>
              </a:rPr>
              <a:t>updates </a:t>
            </a:r>
            <a:r>
              <a:rPr sz="2800" spc="-125" dirty="0">
                <a:solidFill>
                  <a:srgbClr val="333333"/>
                </a:solidFill>
                <a:latin typeface="Calibri"/>
                <a:cs typeface="Calibri"/>
              </a:rPr>
              <a:t>gauges,</a:t>
            </a:r>
            <a:r>
              <a:rPr sz="2800" spc="-10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75" dirty="0">
                <a:solidFill>
                  <a:srgbClr val="363636"/>
                </a:solidFill>
                <a:latin typeface="Calibri"/>
                <a:cs typeface="Calibri"/>
              </a:rPr>
              <a:t>providing</a:t>
            </a:r>
            <a:r>
              <a:rPr sz="2800" spc="-85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2800" spc="-60" dirty="0">
                <a:solidFill>
                  <a:srgbClr val="363636"/>
                </a:solidFill>
                <a:latin typeface="Calibri"/>
                <a:cs typeface="Calibri"/>
              </a:rPr>
              <a:t>a</a:t>
            </a:r>
            <a:r>
              <a:rPr sz="2800" spc="-215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2800" spc="-105" dirty="0">
                <a:solidFill>
                  <a:srgbClr val="363636"/>
                </a:solidFill>
                <a:latin typeface="Calibri"/>
                <a:cs typeface="Calibri"/>
              </a:rPr>
              <a:t>real-</a:t>
            </a:r>
            <a:r>
              <a:rPr sz="2800" spc="-90" dirty="0">
                <a:solidFill>
                  <a:srgbClr val="363636"/>
                </a:solidFill>
                <a:latin typeface="Calibri"/>
                <a:cs typeface="Calibri"/>
              </a:rPr>
              <a:t>time</a:t>
            </a:r>
            <a:r>
              <a:rPr sz="2800" spc="-30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2800" spc="-85" dirty="0">
                <a:solidFill>
                  <a:srgbClr val="242424"/>
                </a:solidFill>
                <a:latin typeface="Calibri"/>
                <a:cs typeface="Calibri"/>
              </a:rPr>
              <a:t>status</a:t>
            </a:r>
            <a:r>
              <a:rPr sz="2800" spc="-20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2800" spc="-105" dirty="0">
                <a:solidFill>
                  <a:srgbClr val="3B3B3B"/>
                </a:solidFill>
                <a:latin typeface="Calibri"/>
                <a:cs typeface="Calibri"/>
              </a:rPr>
              <a:t>to</a:t>
            </a:r>
            <a:r>
              <a:rPr sz="2800" spc="-14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800" spc="-130" dirty="0">
                <a:solidFill>
                  <a:srgbClr val="363636"/>
                </a:solidFill>
                <a:latin typeface="Calibri"/>
                <a:cs typeface="Calibri"/>
              </a:rPr>
              <a:t>the</a:t>
            </a:r>
            <a:r>
              <a:rPr sz="2800" spc="-135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2800" spc="-75" dirty="0">
                <a:solidFill>
                  <a:srgbClr val="333333"/>
                </a:solidFill>
                <a:latin typeface="Calibri"/>
                <a:cs typeface="Calibri"/>
              </a:rPr>
              <a:t>user</a:t>
            </a:r>
            <a:r>
              <a:rPr sz="2800" spc="-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120" dirty="0">
                <a:solidFill>
                  <a:srgbClr val="2D2D2D"/>
                </a:solidFill>
                <a:latin typeface="Calibri"/>
                <a:cs typeface="Calibri"/>
              </a:rPr>
              <a:t>anywhere</a:t>
            </a:r>
            <a:r>
              <a:rPr sz="2800" spc="45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2800" spc="-75" dirty="0">
                <a:solidFill>
                  <a:srgbClr val="343434"/>
                </a:solidFill>
                <a:latin typeface="Calibri"/>
                <a:cs typeface="Calibri"/>
              </a:rPr>
              <a:t>in</a:t>
            </a:r>
            <a:r>
              <a:rPr sz="2800" spc="-135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2F2F2F"/>
                </a:solidFill>
                <a:latin typeface="Calibri"/>
                <a:cs typeface="Calibri"/>
              </a:rPr>
              <a:t>the </a:t>
            </a:r>
            <a:r>
              <a:rPr sz="2800" spc="-10" dirty="0">
                <a:solidFill>
                  <a:srgbClr val="2F2F2F"/>
                </a:solidFill>
                <a:latin typeface="Calibri"/>
                <a:cs typeface="Calibri"/>
              </a:rPr>
              <a:t>world.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1135786"/>
            <a:ext cx="20104100" cy="17276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700" spc="114" dirty="0">
                <a:solidFill>
                  <a:srgbClr val="161616"/>
                </a:solidFill>
              </a:rPr>
              <a:t>Implementation:</a:t>
            </a:r>
            <a:r>
              <a:rPr sz="6700" spc="-790" dirty="0">
                <a:solidFill>
                  <a:srgbClr val="161616"/>
                </a:solidFill>
              </a:rPr>
              <a:t> </a:t>
            </a:r>
            <a:r>
              <a:rPr sz="6700" spc="80" dirty="0">
                <a:solidFill>
                  <a:srgbClr val="181818"/>
                </a:solidFill>
              </a:rPr>
              <a:t>Simulation</a:t>
            </a:r>
            <a:r>
              <a:rPr sz="6700" spc="-30" dirty="0">
                <a:solidFill>
                  <a:srgbClr val="181818"/>
                </a:solidFill>
              </a:rPr>
              <a:t> </a:t>
            </a:r>
            <a:r>
              <a:rPr sz="6700" dirty="0">
                <a:solidFill>
                  <a:srgbClr val="1A1A1A"/>
                </a:solidFill>
              </a:rPr>
              <a:t>&amp;</a:t>
            </a:r>
            <a:r>
              <a:rPr sz="6700" spc="-645" dirty="0">
                <a:solidFill>
                  <a:srgbClr val="1A1A1A"/>
                </a:solidFill>
              </a:rPr>
              <a:t> </a:t>
            </a:r>
            <a:r>
              <a:rPr sz="6700" spc="114" dirty="0">
                <a:solidFill>
                  <a:srgbClr val="151515"/>
                </a:solidFill>
              </a:rPr>
              <a:t>Dashboard</a:t>
            </a:r>
            <a:endParaRPr sz="6700" dirty="0"/>
          </a:p>
        </p:txBody>
      </p:sp>
      <p:sp>
        <p:nvSpPr>
          <p:cNvPr id="4" name="object 4"/>
          <p:cNvSpPr txBox="1"/>
          <p:nvPr/>
        </p:nvSpPr>
        <p:spPr>
          <a:xfrm>
            <a:off x="989867" y="7669003"/>
            <a:ext cx="5541645" cy="10306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992630" marR="5080" indent="-1980564">
              <a:lnSpc>
                <a:spcPct val="117800"/>
              </a:lnSpc>
              <a:spcBef>
                <a:spcPts val="90"/>
              </a:spcBef>
            </a:pPr>
            <a:r>
              <a:rPr sz="2800" spc="-55" dirty="0">
                <a:solidFill>
                  <a:srgbClr val="2F4260"/>
                </a:solidFill>
                <a:latin typeface="Calibri"/>
                <a:cs typeface="Calibri"/>
              </a:rPr>
              <a:t>The</a:t>
            </a:r>
            <a:r>
              <a:rPr sz="2800" spc="-125" dirty="0">
                <a:solidFill>
                  <a:srgbClr val="2F4260"/>
                </a:solidFill>
                <a:latin typeface="Calibri"/>
                <a:cs typeface="Calibri"/>
              </a:rPr>
              <a:t> </a:t>
            </a:r>
            <a:r>
              <a:rPr sz="2800" spc="-80" dirty="0">
                <a:solidFill>
                  <a:srgbClr val="3B3B3B"/>
                </a:solidFill>
                <a:latin typeface="Calibri"/>
                <a:cs typeface="Calibri"/>
              </a:rPr>
              <a:t>Edge</a:t>
            </a:r>
            <a:r>
              <a:rPr sz="2800" spc="-9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800" spc="-75" dirty="0">
                <a:solidFill>
                  <a:srgbClr val="383838"/>
                </a:solidFill>
                <a:latin typeface="Calibri"/>
                <a:cs typeface="Calibri"/>
              </a:rPr>
              <a:t>Node:</a:t>
            </a:r>
            <a:r>
              <a:rPr sz="2800" spc="-70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13131"/>
                </a:solidFill>
                <a:latin typeface="Calibri"/>
                <a:cs typeface="Calibri"/>
              </a:rPr>
              <a:t>ESP32</a:t>
            </a:r>
            <a:r>
              <a:rPr sz="2800" spc="-20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2800" spc="-70" dirty="0">
                <a:solidFill>
                  <a:srgbClr val="343434"/>
                </a:solidFill>
                <a:latin typeface="Calibri"/>
                <a:cs typeface="Calibri"/>
              </a:rPr>
              <a:t>processes</a:t>
            </a:r>
            <a:r>
              <a:rPr sz="2800" spc="140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2800" spc="-80" dirty="0">
                <a:solidFill>
                  <a:srgbClr val="3A3A3A"/>
                </a:solidFill>
                <a:latin typeface="Calibri"/>
                <a:cs typeface="Calibri"/>
              </a:rPr>
              <a:t>sensor </a:t>
            </a:r>
            <a:r>
              <a:rPr sz="2800" spc="-105" dirty="0">
                <a:solidFill>
                  <a:srgbClr val="363636"/>
                </a:solidFill>
                <a:latin typeface="Calibri"/>
                <a:cs typeface="Calibri"/>
              </a:rPr>
              <a:t>data</a:t>
            </a:r>
            <a:r>
              <a:rPr sz="2800" spc="-140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83838"/>
                </a:solidFill>
                <a:latin typeface="Calibri"/>
                <a:cs typeface="Calibri"/>
              </a:rPr>
              <a:t>locally.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21608" y="7669003"/>
            <a:ext cx="5267960" cy="10306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116455" marR="5080" indent="-2104390">
              <a:lnSpc>
                <a:spcPct val="117800"/>
              </a:lnSpc>
              <a:spcBef>
                <a:spcPts val="90"/>
              </a:spcBef>
            </a:pPr>
            <a:r>
              <a:rPr sz="2800" spc="-50" dirty="0">
                <a:solidFill>
                  <a:srgbClr val="2F2F2F"/>
                </a:solidFill>
                <a:latin typeface="Calibri"/>
                <a:cs typeface="Calibri"/>
              </a:rPr>
              <a:t>The</a:t>
            </a:r>
            <a:r>
              <a:rPr sz="2800" spc="-12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800" spc="-40" dirty="0">
                <a:solidFill>
                  <a:srgbClr val="1F1F1F"/>
                </a:solidFill>
                <a:latin typeface="Calibri"/>
                <a:cs typeface="Calibri"/>
              </a:rPr>
              <a:t>Sensors:</a:t>
            </a:r>
            <a:r>
              <a:rPr sz="2800" spc="-1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PIR</a:t>
            </a:r>
            <a:r>
              <a:rPr sz="2800" spc="-1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70" dirty="0">
                <a:solidFill>
                  <a:srgbClr val="383838"/>
                </a:solidFill>
                <a:latin typeface="Calibri"/>
                <a:cs typeface="Calibri"/>
              </a:rPr>
              <a:t>and</a:t>
            </a:r>
            <a:r>
              <a:rPr sz="2800" spc="-25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2800" spc="70" dirty="0">
                <a:solidFill>
                  <a:srgbClr val="3D3D3D"/>
                </a:solidFill>
                <a:latin typeface="Calibri"/>
                <a:cs typeface="Calibri"/>
              </a:rPr>
              <a:t>LDR</a:t>
            </a:r>
            <a:r>
              <a:rPr sz="2800" spc="-9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800" spc="-114" dirty="0">
                <a:solidFill>
                  <a:srgbClr val="343434"/>
                </a:solidFill>
                <a:latin typeface="Calibri"/>
                <a:cs typeface="Calibri"/>
              </a:rPr>
              <a:t>simulated</a:t>
            </a:r>
            <a:r>
              <a:rPr sz="2800" spc="125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414141"/>
                </a:solidFill>
                <a:latin typeface="Calibri"/>
                <a:cs typeface="Calibri"/>
              </a:rPr>
              <a:t>in </a:t>
            </a:r>
            <a:r>
              <a:rPr sz="2800" spc="-10" dirty="0">
                <a:solidFill>
                  <a:srgbClr val="3A3A3A"/>
                </a:solidFill>
                <a:latin typeface="Calibri"/>
                <a:cs typeface="Calibri"/>
              </a:rPr>
              <a:t>Wokwi.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837642" y="7669003"/>
            <a:ext cx="4977765" cy="10306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433195" marR="5080" indent="-1421130">
              <a:lnSpc>
                <a:spcPct val="117800"/>
              </a:lnSpc>
              <a:spcBef>
                <a:spcPts val="90"/>
              </a:spcBef>
            </a:pPr>
            <a:r>
              <a:rPr sz="2800" spc="-50" dirty="0">
                <a:solidFill>
                  <a:srgbClr val="424242"/>
                </a:solidFill>
                <a:latin typeface="Calibri"/>
                <a:cs typeface="Calibri"/>
              </a:rPr>
              <a:t>The</a:t>
            </a:r>
            <a:r>
              <a:rPr sz="2800" spc="-15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2800" spc="-70" dirty="0">
                <a:solidFill>
                  <a:srgbClr val="363636"/>
                </a:solidFill>
                <a:latin typeface="Calibri"/>
                <a:cs typeface="Calibri"/>
              </a:rPr>
              <a:t>Cloud:</a:t>
            </a:r>
            <a:r>
              <a:rPr sz="2800" spc="-80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2800" spc="-45" dirty="0">
                <a:solidFill>
                  <a:srgbClr val="363636"/>
                </a:solidFill>
                <a:latin typeface="Calibri"/>
                <a:cs typeface="Calibri"/>
              </a:rPr>
              <a:t>Blynk</a:t>
            </a:r>
            <a:r>
              <a:rPr sz="2800" spc="-95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2800" spc="-105" dirty="0">
                <a:solidFill>
                  <a:srgbClr val="383838"/>
                </a:solidFill>
                <a:latin typeface="Calibri"/>
                <a:cs typeface="Calibri"/>
              </a:rPr>
              <a:t>dashboard</a:t>
            </a:r>
            <a:r>
              <a:rPr sz="2800" spc="85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2800" spc="-65" dirty="0">
                <a:solidFill>
                  <a:srgbClr val="383838"/>
                </a:solidFill>
                <a:latin typeface="Calibri"/>
                <a:cs typeface="Calibri"/>
              </a:rPr>
              <a:t>displays </a:t>
            </a:r>
            <a:r>
              <a:rPr sz="2800" spc="-105" dirty="0">
                <a:solidFill>
                  <a:srgbClr val="2F2F2F"/>
                </a:solidFill>
                <a:latin typeface="Calibri"/>
                <a:cs typeface="Calibri"/>
              </a:rPr>
              <a:t>real-</a:t>
            </a:r>
            <a:r>
              <a:rPr sz="2800" spc="-95" dirty="0">
                <a:solidFill>
                  <a:srgbClr val="2F2F2F"/>
                </a:solidFill>
                <a:latin typeface="Calibri"/>
                <a:cs typeface="Calibri"/>
              </a:rPr>
              <a:t>time</a:t>
            </a:r>
            <a:r>
              <a:rPr sz="2800" spc="-3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43434"/>
                </a:solidFill>
                <a:latin typeface="Calibri"/>
                <a:cs typeface="Calibri"/>
              </a:rPr>
              <a:t>alerts.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02CAD71-AB82-588E-0AB2-606321C568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867" y="2614731"/>
            <a:ext cx="5732195" cy="469281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D197131-EE8A-4648-2CAD-451D5D949A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5762" y="2119822"/>
            <a:ext cx="4532575" cy="530080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966BB82-4747-5796-BAF4-DF7C0F32D31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08344" y="2964857"/>
            <a:ext cx="5906211" cy="435856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1143639"/>
            <a:ext cx="20104100" cy="16491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00976" y="5442242"/>
            <a:ext cx="973792" cy="103661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541776" y="5026025"/>
            <a:ext cx="1209387" cy="176696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002465" y="5033878"/>
            <a:ext cx="1272212" cy="178266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478860" y="5104556"/>
            <a:ext cx="1892612" cy="1704136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898869" y="841331"/>
            <a:ext cx="7487284" cy="102679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1504315" algn="l"/>
              </a:tabLst>
            </a:pPr>
            <a:r>
              <a:rPr sz="6550" spc="-320" dirty="0">
                <a:solidFill>
                  <a:srgbClr val="161616"/>
                </a:solidFill>
              </a:rPr>
              <a:t>Key</a:t>
            </a:r>
            <a:r>
              <a:rPr sz="6550" dirty="0">
                <a:solidFill>
                  <a:srgbClr val="161616"/>
                </a:solidFill>
              </a:rPr>
              <a:t>	</a:t>
            </a:r>
            <a:r>
              <a:rPr sz="6550" spc="100" dirty="0">
                <a:solidFill>
                  <a:srgbClr val="161616"/>
                </a:solidFill>
              </a:rPr>
              <a:t>Result:</a:t>
            </a:r>
            <a:r>
              <a:rPr sz="6550" spc="-480" dirty="0">
                <a:solidFill>
                  <a:srgbClr val="161616"/>
                </a:solidFill>
              </a:rPr>
              <a:t> </a:t>
            </a:r>
            <a:r>
              <a:rPr sz="6550" spc="135" dirty="0">
                <a:solidFill>
                  <a:srgbClr val="151515"/>
                </a:solidFill>
              </a:rPr>
              <a:t>Efficiency</a:t>
            </a:r>
            <a:endParaRPr sz="6550"/>
          </a:p>
        </p:txBody>
      </p:sp>
      <p:sp>
        <p:nvSpPr>
          <p:cNvPr id="8" name="object 8"/>
          <p:cNvSpPr txBox="1"/>
          <p:nvPr/>
        </p:nvSpPr>
        <p:spPr>
          <a:xfrm>
            <a:off x="2835059" y="7093759"/>
            <a:ext cx="4917440" cy="5162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200" dirty="0">
                <a:solidFill>
                  <a:srgbClr val="1A1A1A"/>
                </a:solidFill>
                <a:latin typeface="Calibri"/>
                <a:cs typeface="Calibri"/>
              </a:rPr>
              <a:t>Reduction</a:t>
            </a:r>
            <a:r>
              <a:rPr sz="3200" spc="18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3200" spc="114" dirty="0">
                <a:solidFill>
                  <a:srgbClr val="212121"/>
                </a:solidFill>
                <a:latin typeface="Calibri"/>
                <a:cs typeface="Calibri"/>
              </a:rPr>
              <a:t>in</a:t>
            </a:r>
            <a:r>
              <a:rPr sz="3200" spc="-16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3200" spc="60" dirty="0">
                <a:solidFill>
                  <a:srgbClr val="181818"/>
                </a:solidFill>
                <a:latin typeface="Calibri"/>
                <a:cs typeface="Calibri"/>
              </a:rPr>
              <a:t>Network</a:t>
            </a:r>
            <a:r>
              <a:rPr sz="3200" spc="245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232323"/>
                </a:solidFill>
                <a:latin typeface="Calibri"/>
                <a:cs typeface="Calibri"/>
              </a:rPr>
              <a:t>Traffic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420432" y="4714250"/>
            <a:ext cx="8342630" cy="21012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4750" spc="110" dirty="0">
                <a:solidFill>
                  <a:srgbClr val="059A89"/>
                </a:solidFill>
                <a:latin typeface="Calibri"/>
                <a:cs typeface="Calibri"/>
              </a:rPr>
              <a:t>Data</a:t>
            </a:r>
            <a:r>
              <a:rPr sz="4750" spc="-250" dirty="0">
                <a:solidFill>
                  <a:srgbClr val="059A89"/>
                </a:solidFill>
                <a:latin typeface="Calibri"/>
                <a:cs typeface="Calibri"/>
              </a:rPr>
              <a:t> </a:t>
            </a:r>
            <a:r>
              <a:rPr sz="4750" spc="-75" dirty="0">
                <a:solidFill>
                  <a:srgbClr val="079583"/>
                </a:solidFill>
                <a:latin typeface="Calibri"/>
                <a:cs typeface="Calibri"/>
              </a:rPr>
              <a:t>Filtering</a:t>
            </a:r>
            <a:r>
              <a:rPr sz="4750" spc="260" dirty="0">
                <a:solidFill>
                  <a:srgbClr val="079583"/>
                </a:solidFill>
                <a:latin typeface="Calibri"/>
                <a:cs typeface="Calibri"/>
              </a:rPr>
              <a:t> </a:t>
            </a:r>
            <a:r>
              <a:rPr sz="4750" spc="90" dirty="0">
                <a:solidFill>
                  <a:srgbClr val="089589"/>
                </a:solidFill>
                <a:latin typeface="Calibri"/>
                <a:cs typeface="Calibri"/>
              </a:rPr>
              <a:t>at</a:t>
            </a:r>
            <a:r>
              <a:rPr sz="4750" spc="-45" dirty="0">
                <a:solidFill>
                  <a:srgbClr val="089589"/>
                </a:solidFill>
                <a:latin typeface="Calibri"/>
                <a:cs typeface="Calibri"/>
              </a:rPr>
              <a:t> </a:t>
            </a:r>
            <a:r>
              <a:rPr sz="4750" dirty="0">
                <a:solidFill>
                  <a:srgbClr val="189587"/>
                </a:solidFill>
                <a:latin typeface="Calibri"/>
                <a:cs typeface="Calibri"/>
              </a:rPr>
              <a:t>the</a:t>
            </a:r>
            <a:r>
              <a:rPr sz="4750" spc="-204" dirty="0">
                <a:solidFill>
                  <a:srgbClr val="189587"/>
                </a:solidFill>
                <a:latin typeface="Calibri"/>
                <a:cs typeface="Calibri"/>
              </a:rPr>
              <a:t> </a:t>
            </a:r>
            <a:r>
              <a:rPr sz="4750" spc="-20" dirty="0">
                <a:solidFill>
                  <a:srgbClr val="188E82"/>
                </a:solidFill>
                <a:latin typeface="Calibri"/>
                <a:cs typeface="Calibri"/>
              </a:rPr>
              <a:t>Edge</a:t>
            </a:r>
            <a:endParaRPr sz="4750">
              <a:latin typeface="Calibri"/>
              <a:cs typeface="Calibri"/>
            </a:endParaRPr>
          </a:p>
          <a:p>
            <a:pPr marL="24130" marR="5080" indent="1270">
              <a:lnSpc>
                <a:spcPct val="117800"/>
              </a:lnSpc>
              <a:spcBef>
                <a:spcPts val="2700"/>
              </a:spcBef>
            </a:pPr>
            <a:r>
              <a:rPr sz="2800" spc="-90" dirty="0">
                <a:solidFill>
                  <a:srgbClr val="363636"/>
                </a:solidFill>
                <a:latin typeface="Calibri"/>
                <a:cs typeface="Calibri"/>
              </a:rPr>
              <a:t>Instead</a:t>
            </a:r>
            <a:r>
              <a:rPr sz="2800" spc="-20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2800" spc="-90" dirty="0">
                <a:solidFill>
                  <a:srgbClr val="3F3F3F"/>
                </a:solidFill>
                <a:latin typeface="Calibri"/>
                <a:cs typeface="Calibri"/>
              </a:rPr>
              <a:t>of</a:t>
            </a:r>
            <a:r>
              <a:rPr sz="28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110" dirty="0">
                <a:solidFill>
                  <a:srgbClr val="343434"/>
                </a:solidFill>
                <a:latin typeface="Calibri"/>
                <a:cs typeface="Calibri"/>
              </a:rPr>
              <a:t>sending</a:t>
            </a:r>
            <a:r>
              <a:rPr sz="2800" spc="-50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63636"/>
                </a:solidFill>
                <a:latin typeface="Calibri"/>
                <a:cs typeface="Calibri"/>
              </a:rPr>
              <a:t>60</a:t>
            </a:r>
            <a:r>
              <a:rPr sz="2800" spc="-90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2800" spc="-105" dirty="0">
                <a:solidFill>
                  <a:srgbClr val="363636"/>
                </a:solidFill>
                <a:latin typeface="Calibri"/>
                <a:cs typeface="Calibri"/>
              </a:rPr>
              <a:t>data</a:t>
            </a:r>
            <a:r>
              <a:rPr sz="2800" spc="-150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2800" spc="-90" dirty="0">
                <a:solidFill>
                  <a:srgbClr val="363636"/>
                </a:solidFill>
                <a:latin typeface="Calibri"/>
                <a:cs typeface="Calibri"/>
              </a:rPr>
              <a:t>points</a:t>
            </a:r>
            <a:r>
              <a:rPr sz="2800" spc="-5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2800" spc="-125" dirty="0">
                <a:solidFill>
                  <a:srgbClr val="3D3D3D"/>
                </a:solidFill>
                <a:latin typeface="Calibri"/>
                <a:cs typeface="Calibri"/>
              </a:rPr>
              <a:t>per</a:t>
            </a:r>
            <a:r>
              <a:rPr sz="2800" spc="-5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800" spc="-145" dirty="0">
                <a:solidFill>
                  <a:srgbClr val="363636"/>
                </a:solidFill>
                <a:latin typeface="Calibri"/>
                <a:cs typeface="Calibri"/>
              </a:rPr>
              <a:t>minute</a:t>
            </a:r>
            <a:r>
              <a:rPr sz="2800" spc="-30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2800" spc="-80" dirty="0">
                <a:solidFill>
                  <a:srgbClr val="3F3F3F"/>
                </a:solidFill>
                <a:latin typeface="Calibri"/>
                <a:cs typeface="Calibri"/>
              </a:rPr>
              <a:t>(1 </a:t>
            </a:r>
            <a:r>
              <a:rPr sz="2800" spc="-110" dirty="0">
                <a:solidFill>
                  <a:srgbClr val="343434"/>
                </a:solidFill>
                <a:latin typeface="Calibri"/>
                <a:cs typeface="Calibri"/>
              </a:rPr>
              <a:t>per</a:t>
            </a:r>
            <a:r>
              <a:rPr sz="2800" spc="-15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2800" spc="-114" dirty="0">
                <a:solidFill>
                  <a:srgbClr val="3A3A3A"/>
                </a:solidFill>
                <a:latin typeface="Calibri"/>
                <a:cs typeface="Calibri"/>
              </a:rPr>
              <a:t>sec)</a:t>
            </a:r>
            <a:r>
              <a:rPr sz="2800" spc="-10" dirty="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sz="2800" spc="-105" dirty="0">
                <a:solidFill>
                  <a:srgbClr val="383838"/>
                </a:solidFill>
                <a:latin typeface="Calibri"/>
                <a:cs typeface="Calibri"/>
              </a:rPr>
              <a:t>to</a:t>
            </a:r>
            <a:r>
              <a:rPr sz="2800" spc="-140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2800" spc="-75" dirty="0">
                <a:solidFill>
                  <a:srgbClr val="313131"/>
                </a:solidFill>
                <a:latin typeface="Calibri"/>
                <a:cs typeface="Calibri"/>
              </a:rPr>
              <a:t>the </a:t>
            </a:r>
            <a:r>
              <a:rPr sz="2800" spc="-120" dirty="0">
                <a:solidFill>
                  <a:srgbClr val="363636"/>
                </a:solidFill>
                <a:latin typeface="Calibri"/>
                <a:cs typeface="Calibri"/>
              </a:rPr>
              <a:t>cloud,</a:t>
            </a:r>
            <a:r>
              <a:rPr sz="2800" spc="-65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2800" spc="-130" dirty="0">
                <a:solidFill>
                  <a:srgbClr val="383838"/>
                </a:solidFill>
                <a:latin typeface="Calibri"/>
                <a:cs typeface="Calibri"/>
              </a:rPr>
              <a:t>the</a:t>
            </a:r>
            <a:r>
              <a:rPr sz="2800" spc="-105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2800" spc="-105" dirty="0">
                <a:solidFill>
                  <a:srgbClr val="343434"/>
                </a:solidFill>
                <a:latin typeface="Calibri"/>
                <a:cs typeface="Calibri"/>
              </a:rPr>
              <a:t>system</a:t>
            </a:r>
            <a:r>
              <a:rPr sz="2800" spc="-70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2800" spc="-90" dirty="0">
                <a:solidFill>
                  <a:srgbClr val="3D3D3D"/>
                </a:solidFill>
                <a:latin typeface="Calibri"/>
                <a:cs typeface="Calibri"/>
              </a:rPr>
              <a:t>only</a:t>
            </a:r>
            <a:r>
              <a:rPr sz="2800" spc="-7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800" spc="-110" dirty="0">
                <a:solidFill>
                  <a:srgbClr val="363636"/>
                </a:solidFill>
                <a:latin typeface="Calibri"/>
                <a:cs typeface="Calibri"/>
              </a:rPr>
              <a:t>sends</a:t>
            </a:r>
            <a:r>
              <a:rPr sz="2800" spc="-10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2800" spc="-105" dirty="0">
                <a:solidFill>
                  <a:srgbClr val="333333"/>
                </a:solidFill>
                <a:latin typeface="Calibri"/>
                <a:cs typeface="Calibri"/>
              </a:rPr>
              <a:t>data</a:t>
            </a:r>
            <a:r>
              <a:rPr sz="2800" spc="-1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155" dirty="0">
                <a:solidFill>
                  <a:srgbClr val="343434"/>
                </a:solidFill>
                <a:latin typeface="Calibri"/>
                <a:cs typeface="Calibri"/>
              </a:rPr>
              <a:t>when</a:t>
            </a:r>
            <a:r>
              <a:rPr sz="2800" spc="-114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2800" spc="-140" dirty="0">
                <a:solidFill>
                  <a:srgbClr val="383838"/>
                </a:solidFill>
                <a:latin typeface="Calibri"/>
                <a:cs typeface="Calibri"/>
              </a:rPr>
              <a:t>motion</a:t>
            </a:r>
            <a:r>
              <a:rPr sz="2800" spc="10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63636"/>
                </a:solidFill>
                <a:latin typeface="Calibri"/>
                <a:cs typeface="Calibri"/>
              </a:rPr>
              <a:t>is</a:t>
            </a:r>
            <a:r>
              <a:rPr sz="2800" spc="-40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2D2D2D"/>
                </a:solidFill>
                <a:latin typeface="Calibri"/>
                <a:cs typeface="Calibri"/>
              </a:rPr>
              <a:t>”actually’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430846" y="6789448"/>
            <a:ext cx="8384540" cy="10306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3335" marR="5080" indent="-1270">
              <a:lnSpc>
                <a:spcPct val="117800"/>
              </a:lnSpc>
              <a:spcBef>
                <a:spcPts val="90"/>
              </a:spcBef>
            </a:pPr>
            <a:r>
              <a:rPr sz="2800" spc="-135" dirty="0">
                <a:solidFill>
                  <a:srgbClr val="363636"/>
                </a:solidFill>
                <a:latin typeface="Calibri"/>
                <a:cs typeface="Calibri"/>
              </a:rPr>
              <a:t>detected</a:t>
            </a:r>
            <a:r>
              <a:rPr sz="2800" spc="-15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2800" spc="-185" dirty="0">
                <a:solidFill>
                  <a:srgbClr val="2F2F2F"/>
                </a:solidFill>
                <a:latin typeface="Calibri"/>
                <a:cs typeface="Calibri"/>
              </a:rPr>
              <a:t>(e.g.,</a:t>
            </a:r>
            <a:r>
              <a:rPr sz="2800" spc="-12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83838"/>
                </a:solidFill>
                <a:latin typeface="Calibri"/>
                <a:cs typeface="Calibri"/>
              </a:rPr>
              <a:t>2-3</a:t>
            </a:r>
            <a:r>
              <a:rPr sz="2800" spc="-40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2800" spc="-135" dirty="0">
                <a:solidFill>
                  <a:srgbClr val="313131"/>
                </a:solidFill>
                <a:latin typeface="Calibri"/>
                <a:cs typeface="Calibri"/>
              </a:rPr>
              <a:t>times</a:t>
            </a:r>
            <a:r>
              <a:rPr sz="2800" spc="-50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2800" spc="-120" dirty="0">
                <a:solidFill>
                  <a:srgbClr val="3B3B3B"/>
                </a:solidFill>
                <a:latin typeface="Calibri"/>
                <a:cs typeface="Calibri"/>
              </a:rPr>
              <a:t>per</a:t>
            </a:r>
            <a:r>
              <a:rPr sz="2800" spc="-4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800" spc="-125" dirty="0">
                <a:solidFill>
                  <a:srgbClr val="3A3A3A"/>
                </a:solidFill>
                <a:latin typeface="Calibri"/>
                <a:cs typeface="Calibri"/>
              </a:rPr>
              <a:t>day).</a:t>
            </a:r>
            <a:r>
              <a:rPr sz="2800" spc="-90" dirty="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83838"/>
                </a:solidFill>
                <a:latin typeface="Calibri"/>
                <a:cs typeface="Calibri"/>
              </a:rPr>
              <a:t>This</a:t>
            </a:r>
            <a:r>
              <a:rPr sz="2800" spc="-60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83838"/>
                </a:solidFill>
                <a:latin typeface="Calibri"/>
                <a:cs typeface="Calibri"/>
              </a:rPr>
              <a:t>is</a:t>
            </a:r>
            <a:r>
              <a:rPr sz="2800" spc="-95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2800" spc="-130" dirty="0">
                <a:solidFill>
                  <a:srgbClr val="3B3B3B"/>
                </a:solidFill>
                <a:latin typeface="Calibri"/>
                <a:cs typeface="Calibri"/>
              </a:rPr>
              <a:t>the</a:t>
            </a:r>
            <a:r>
              <a:rPr sz="2800" spc="-114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800" spc="-95" dirty="0">
                <a:solidFill>
                  <a:srgbClr val="3D3D3D"/>
                </a:solidFill>
                <a:latin typeface="Calibri"/>
                <a:cs typeface="Calibri"/>
              </a:rPr>
              <a:t>core</a:t>
            </a:r>
            <a:r>
              <a:rPr sz="2800" spc="-14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800" spc="-125" dirty="0">
                <a:solidFill>
                  <a:srgbClr val="2F2F2F"/>
                </a:solidFill>
                <a:latin typeface="Calibri"/>
                <a:cs typeface="Calibri"/>
              </a:rPr>
              <a:t>benefit</a:t>
            </a:r>
            <a:r>
              <a:rPr sz="2800" spc="-35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800" spc="-90" dirty="0">
                <a:solidFill>
                  <a:srgbClr val="383838"/>
                </a:solidFill>
                <a:latin typeface="Calibri"/>
                <a:cs typeface="Calibri"/>
              </a:rPr>
              <a:t>of</a:t>
            </a:r>
            <a:r>
              <a:rPr sz="2800" spc="5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363636"/>
                </a:solidFill>
                <a:latin typeface="Calibri"/>
                <a:cs typeface="Calibri"/>
              </a:rPr>
              <a:t>fog </a:t>
            </a:r>
            <a:r>
              <a:rPr sz="2800" spc="-135" dirty="0">
                <a:solidFill>
                  <a:srgbClr val="363636"/>
                </a:solidFill>
                <a:latin typeface="Calibri"/>
                <a:cs typeface="Calibri"/>
              </a:rPr>
              <a:t>computing,</a:t>
            </a:r>
            <a:r>
              <a:rPr sz="2800" spc="5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2800" spc="-80" dirty="0">
                <a:solidFill>
                  <a:srgbClr val="383838"/>
                </a:solidFill>
                <a:latin typeface="Calibri"/>
                <a:cs typeface="Calibri"/>
              </a:rPr>
              <a:t>saving </a:t>
            </a:r>
            <a:r>
              <a:rPr sz="2800" spc="-120" dirty="0">
                <a:solidFill>
                  <a:srgbClr val="313131"/>
                </a:solidFill>
                <a:latin typeface="Calibri"/>
                <a:cs typeface="Calibri"/>
              </a:rPr>
              <a:t>bandwidth</a:t>
            </a:r>
            <a:r>
              <a:rPr sz="2800" spc="80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2800" spc="-170" dirty="0">
                <a:solidFill>
                  <a:srgbClr val="343434"/>
                </a:solidFill>
                <a:latin typeface="Calibri"/>
                <a:cs typeface="Calibri"/>
              </a:rPr>
              <a:t>and</a:t>
            </a:r>
            <a:r>
              <a:rPr sz="2800" spc="-65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13131"/>
                </a:solidFill>
                <a:latin typeface="Calibri"/>
                <a:cs typeface="Calibri"/>
              </a:rPr>
              <a:t>power.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1135786"/>
            <a:ext cx="20104100" cy="17276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85133" y="6203999"/>
            <a:ext cx="10994429" cy="73819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23888" y="4005113"/>
            <a:ext cx="10664596" cy="75390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968404" y="5198794"/>
            <a:ext cx="1319331" cy="70678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90"/>
              </a:spcBef>
            </a:pPr>
            <a:r>
              <a:rPr spc="170" dirty="0"/>
              <a:t>Performance:</a:t>
            </a:r>
            <a:r>
              <a:rPr spc="25" dirty="0"/>
              <a:t> </a:t>
            </a:r>
            <a:r>
              <a:rPr spc="265" dirty="0">
                <a:solidFill>
                  <a:srgbClr val="131313"/>
                </a:solidFill>
              </a:rPr>
              <a:t>Cloud</a:t>
            </a:r>
            <a:r>
              <a:rPr spc="-254" dirty="0">
                <a:solidFill>
                  <a:srgbClr val="131313"/>
                </a:solidFill>
              </a:rPr>
              <a:t> </a:t>
            </a:r>
            <a:r>
              <a:rPr spc="204" dirty="0">
                <a:solidFill>
                  <a:srgbClr val="161616"/>
                </a:solidFill>
              </a:rPr>
              <a:t>vs.</a:t>
            </a:r>
            <a:r>
              <a:rPr spc="-225" dirty="0">
                <a:solidFill>
                  <a:srgbClr val="161616"/>
                </a:solidFill>
              </a:rPr>
              <a:t> </a:t>
            </a:r>
            <a:r>
              <a:rPr spc="155" dirty="0">
                <a:solidFill>
                  <a:srgbClr val="1A1A1A"/>
                </a:solidFill>
              </a:rPr>
              <a:t>Fog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5730" rIns="0" bIns="0" rtlCol="0">
            <a:spAutoFit/>
          </a:bodyPr>
          <a:lstStyle/>
          <a:p>
            <a:pPr marR="12027535" algn="r">
              <a:lnSpc>
                <a:spcPct val="100000"/>
              </a:lnSpc>
              <a:spcBef>
                <a:spcPts val="990"/>
              </a:spcBef>
            </a:pPr>
            <a:r>
              <a:rPr spc="70" dirty="0">
                <a:solidFill>
                  <a:srgbClr val="313131"/>
                </a:solidFill>
              </a:rPr>
              <a:t>Cloud-</a:t>
            </a:r>
            <a:r>
              <a:rPr spc="75" dirty="0">
                <a:solidFill>
                  <a:srgbClr val="313131"/>
                </a:solidFill>
              </a:rPr>
              <a:t>Only</a:t>
            </a:r>
            <a:r>
              <a:rPr spc="145" dirty="0">
                <a:solidFill>
                  <a:srgbClr val="313131"/>
                </a:solidFill>
              </a:rPr>
              <a:t> </a:t>
            </a:r>
            <a:r>
              <a:rPr spc="85" dirty="0"/>
              <a:t>Latency</a:t>
            </a:r>
            <a:r>
              <a:rPr spc="80" dirty="0"/>
              <a:t> </a:t>
            </a:r>
            <a:r>
              <a:rPr spc="60" dirty="0"/>
              <a:t>(Alert</a:t>
            </a:r>
          </a:p>
          <a:p>
            <a:pPr marR="12014200" algn="r">
              <a:lnSpc>
                <a:spcPct val="100000"/>
              </a:lnSpc>
              <a:spcBef>
                <a:spcPts val="900"/>
              </a:spcBef>
            </a:pPr>
            <a:r>
              <a:rPr spc="40" dirty="0">
                <a:solidFill>
                  <a:srgbClr val="2D2D2D"/>
                </a:solidFill>
              </a:rPr>
              <a:t>Time)</a:t>
            </a:r>
          </a:p>
          <a:p>
            <a:pPr marL="12700" marR="12009120" indent="1005205" algn="just">
              <a:lnSpc>
                <a:spcPts val="8040"/>
              </a:lnSpc>
              <a:spcBef>
                <a:spcPts val="355"/>
              </a:spcBef>
            </a:pPr>
            <a:r>
              <a:rPr sz="2700" spc="-50" dirty="0">
                <a:solidFill>
                  <a:srgbClr val="383838"/>
                </a:solidFill>
              </a:rPr>
              <a:t>Fog-</a:t>
            </a:r>
            <a:r>
              <a:rPr sz="2700" spc="-20" dirty="0">
                <a:solidFill>
                  <a:srgbClr val="383838"/>
                </a:solidFill>
              </a:rPr>
              <a:t>Enabled</a:t>
            </a:r>
            <a:r>
              <a:rPr sz="2700" spc="-80" dirty="0">
                <a:solidFill>
                  <a:srgbClr val="383838"/>
                </a:solidFill>
              </a:rPr>
              <a:t> </a:t>
            </a:r>
            <a:r>
              <a:rPr sz="2700" spc="-10" dirty="0">
                <a:solidFill>
                  <a:srgbClr val="383838"/>
                </a:solidFill>
              </a:rPr>
              <a:t>Latency </a:t>
            </a:r>
            <a:r>
              <a:rPr spc="70" dirty="0">
                <a:solidFill>
                  <a:srgbClr val="363636"/>
                </a:solidFill>
              </a:rPr>
              <a:t>Cloud-</a:t>
            </a:r>
            <a:r>
              <a:rPr spc="75" dirty="0">
                <a:solidFill>
                  <a:srgbClr val="363636"/>
                </a:solidFill>
              </a:rPr>
              <a:t>Only</a:t>
            </a:r>
            <a:r>
              <a:rPr spc="150" dirty="0">
                <a:solidFill>
                  <a:srgbClr val="363636"/>
                </a:solidFill>
              </a:rPr>
              <a:t> </a:t>
            </a:r>
            <a:r>
              <a:rPr spc="55" dirty="0">
                <a:solidFill>
                  <a:srgbClr val="383838"/>
                </a:solidFill>
              </a:rPr>
              <a:t>Bandwidth</a:t>
            </a:r>
            <a:r>
              <a:rPr spc="30" dirty="0">
                <a:solidFill>
                  <a:srgbClr val="383838"/>
                </a:solidFill>
              </a:rPr>
              <a:t> </a:t>
            </a:r>
            <a:r>
              <a:rPr spc="100" dirty="0"/>
              <a:t>Use </a:t>
            </a:r>
            <a:r>
              <a:rPr sz="2700" spc="-50" dirty="0"/>
              <a:t>Fog-</a:t>
            </a:r>
            <a:r>
              <a:rPr sz="2700" spc="-20" dirty="0"/>
              <a:t>Enabled</a:t>
            </a:r>
            <a:r>
              <a:rPr sz="2700" spc="-60" dirty="0"/>
              <a:t> </a:t>
            </a:r>
            <a:r>
              <a:rPr sz="2700" spc="-10" dirty="0">
                <a:solidFill>
                  <a:srgbClr val="3B3B3B"/>
                </a:solidFill>
              </a:rPr>
              <a:t>Bandwidth</a:t>
            </a:r>
            <a:r>
              <a:rPr sz="2700" spc="-120" dirty="0">
                <a:solidFill>
                  <a:srgbClr val="3B3B3B"/>
                </a:solidFill>
              </a:rPr>
              <a:t> </a:t>
            </a:r>
            <a:r>
              <a:rPr sz="2700" spc="25" dirty="0">
                <a:solidFill>
                  <a:srgbClr val="383838"/>
                </a:solidFill>
              </a:rPr>
              <a:t>Use</a:t>
            </a:r>
            <a:endParaRPr sz="2700"/>
          </a:p>
          <a:p>
            <a:pPr marL="2301875">
              <a:lnSpc>
                <a:spcPct val="100000"/>
              </a:lnSpc>
              <a:spcBef>
                <a:spcPts val="3110"/>
              </a:spcBef>
              <a:tabLst>
                <a:tab pos="2913380" algn="l"/>
              </a:tabLst>
            </a:pPr>
            <a:r>
              <a:rPr sz="2450" i="1" spc="-25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2450" i="1" dirty="0">
                <a:solidFill>
                  <a:srgbClr val="333333"/>
                </a:solidFill>
                <a:latin typeface="Calibri"/>
                <a:cs typeface="Calibri"/>
              </a:rPr>
              <a:t>	fog-enabled</a:t>
            </a:r>
            <a:r>
              <a:rPr sz="2450" i="1" spc="2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50" i="1" spc="55" dirty="0">
                <a:solidFill>
                  <a:srgbClr val="333333"/>
                </a:solidFill>
                <a:latin typeface="Calibri"/>
                <a:cs typeface="Calibri"/>
              </a:rPr>
              <a:t>model</a:t>
            </a:r>
            <a:r>
              <a:rPr sz="2450" i="1" spc="9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50" i="1" spc="90" dirty="0">
                <a:solidFill>
                  <a:srgbClr val="3B3B3B"/>
                </a:solidFill>
                <a:latin typeface="Calibri"/>
                <a:cs typeface="Calibri"/>
              </a:rPr>
              <a:t>shows</a:t>
            </a:r>
            <a:r>
              <a:rPr sz="2450" i="1" spc="-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450" i="1" dirty="0">
                <a:solidFill>
                  <a:srgbClr val="2F2F2F"/>
                </a:solidFill>
                <a:latin typeface="Calibri"/>
                <a:cs typeface="Calibri"/>
              </a:rPr>
              <a:t>a</a:t>
            </a:r>
            <a:r>
              <a:rPr sz="2450" i="1" spc="9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450" i="1" dirty="0">
                <a:latin typeface="Calibri"/>
                <a:cs typeface="Calibri"/>
              </a:rPr>
              <a:t>significant</a:t>
            </a:r>
            <a:r>
              <a:rPr sz="2450" i="1" spc="95" dirty="0">
                <a:latin typeface="Calibri"/>
                <a:cs typeface="Calibri"/>
              </a:rPr>
              <a:t> </a:t>
            </a:r>
            <a:r>
              <a:rPr sz="2450" i="1" spc="65" dirty="0">
                <a:solidFill>
                  <a:srgbClr val="383838"/>
                </a:solidFill>
                <a:latin typeface="Calibri"/>
                <a:cs typeface="Calibri"/>
              </a:rPr>
              <a:t>reduction</a:t>
            </a:r>
            <a:r>
              <a:rPr sz="2450" i="1" spc="165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2450" i="1" spc="70" dirty="0">
                <a:solidFill>
                  <a:srgbClr val="283852"/>
                </a:solidFill>
                <a:latin typeface="Calibri"/>
                <a:cs typeface="Calibri"/>
              </a:rPr>
              <a:t>in</a:t>
            </a:r>
            <a:r>
              <a:rPr sz="2450" i="1" spc="-60" dirty="0">
                <a:solidFill>
                  <a:srgbClr val="283852"/>
                </a:solidFill>
                <a:latin typeface="Calibri"/>
                <a:cs typeface="Calibri"/>
              </a:rPr>
              <a:t> </a:t>
            </a:r>
            <a:r>
              <a:rPr sz="2450" i="1" spc="75" dirty="0">
                <a:solidFill>
                  <a:srgbClr val="3B3B3B"/>
                </a:solidFill>
                <a:latin typeface="Calibri"/>
                <a:cs typeface="Calibri"/>
              </a:rPr>
              <a:t>both</a:t>
            </a:r>
            <a:r>
              <a:rPr sz="2450" i="1" spc="6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450" i="1" spc="70" dirty="0">
                <a:solidFill>
                  <a:srgbClr val="333333"/>
                </a:solidFill>
                <a:latin typeface="Calibri"/>
                <a:cs typeface="Calibri"/>
              </a:rPr>
              <a:t>latency(alert</a:t>
            </a:r>
            <a:r>
              <a:rPr sz="2450" i="1" spc="204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50" i="1" dirty="0">
                <a:solidFill>
                  <a:srgbClr val="3F445D"/>
                </a:solidFill>
                <a:latin typeface="Calibri"/>
                <a:cs typeface="Calibri"/>
              </a:rPr>
              <a:t>time)</a:t>
            </a:r>
            <a:r>
              <a:rPr sz="2450" i="1" spc="40" dirty="0">
                <a:solidFill>
                  <a:srgbClr val="3F445D"/>
                </a:solidFill>
                <a:latin typeface="Calibri"/>
                <a:cs typeface="Calibri"/>
              </a:rPr>
              <a:t> </a:t>
            </a:r>
            <a:r>
              <a:rPr sz="2450" i="1" spc="55" dirty="0">
                <a:solidFill>
                  <a:srgbClr val="3A3A3A"/>
                </a:solidFill>
                <a:latin typeface="Calibri"/>
                <a:cs typeface="Calibri"/>
              </a:rPr>
              <a:t>and</a:t>
            </a:r>
            <a:r>
              <a:rPr sz="2450" i="1" spc="-15" dirty="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sz="2450" i="1" dirty="0">
                <a:solidFill>
                  <a:srgbClr val="313131"/>
                </a:solidFill>
                <a:latin typeface="Calibri"/>
                <a:cs typeface="Calibri"/>
              </a:rPr>
              <a:t>bandwidth</a:t>
            </a:r>
            <a:r>
              <a:rPr sz="2450" i="1" spc="204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2450" i="1" spc="-10" dirty="0">
                <a:solidFill>
                  <a:srgbClr val="2A2A2A"/>
                </a:solidFill>
                <a:latin typeface="Calibri"/>
                <a:cs typeface="Calibri"/>
              </a:rPr>
              <a:t>usage.</a:t>
            </a:r>
            <a:endParaRPr sz="24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1135786"/>
            <a:ext cx="20104100" cy="17276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9298146" y="5383343"/>
            <a:ext cx="1570990" cy="0"/>
          </a:xfrm>
          <a:custGeom>
            <a:avLst/>
            <a:gdLst/>
            <a:ahLst/>
            <a:cxnLst/>
            <a:rect l="l" t="t" r="r" b="b"/>
            <a:pathLst>
              <a:path w="1570990">
                <a:moveTo>
                  <a:pt x="0" y="0"/>
                </a:moveTo>
                <a:lnTo>
                  <a:pt x="1570632" y="0"/>
                </a:lnTo>
              </a:path>
            </a:pathLst>
          </a:custGeom>
          <a:ln w="54972">
            <a:solidFill>
              <a:srgbClr val="0F908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685324" y="3010768"/>
            <a:ext cx="12651105" cy="14395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250" spc="200" dirty="0">
                <a:solidFill>
                  <a:srgbClr val="1A1A1A"/>
                </a:solidFill>
              </a:rPr>
              <a:t>Conclusion</a:t>
            </a:r>
            <a:r>
              <a:rPr sz="9250" spc="-240" dirty="0">
                <a:solidFill>
                  <a:srgbClr val="1A1A1A"/>
                </a:solidFill>
              </a:rPr>
              <a:t> </a:t>
            </a:r>
            <a:r>
              <a:rPr sz="9250" spc="60" dirty="0">
                <a:solidFill>
                  <a:srgbClr val="1A1A1A"/>
                </a:solidFill>
              </a:rPr>
              <a:t>&amp;</a:t>
            </a:r>
            <a:r>
              <a:rPr sz="9250" spc="-1045" dirty="0">
                <a:solidFill>
                  <a:srgbClr val="1A1A1A"/>
                </a:solidFill>
              </a:rPr>
              <a:t> </a:t>
            </a:r>
            <a:r>
              <a:rPr sz="9250" dirty="0">
                <a:solidFill>
                  <a:srgbClr val="181818"/>
                </a:solidFill>
              </a:rPr>
              <a:t>Future</a:t>
            </a:r>
            <a:r>
              <a:rPr sz="9250" spc="-295" dirty="0">
                <a:solidFill>
                  <a:srgbClr val="181818"/>
                </a:solidFill>
              </a:rPr>
              <a:t> </a:t>
            </a:r>
            <a:r>
              <a:rPr sz="9250" spc="-25" dirty="0">
                <a:solidFill>
                  <a:srgbClr val="1A1A1A"/>
                </a:solidFill>
              </a:rPr>
              <a:t>Work</a:t>
            </a:r>
            <a:endParaRPr sz="9250"/>
          </a:p>
        </p:txBody>
      </p:sp>
      <p:sp>
        <p:nvSpPr>
          <p:cNvPr id="5" name="object 5"/>
          <p:cNvSpPr txBox="1"/>
          <p:nvPr/>
        </p:nvSpPr>
        <p:spPr>
          <a:xfrm>
            <a:off x="4575627" y="5837907"/>
            <a:ext cx="10934065" cy="224028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 indent="11430" algn="ctr">
              <a:lnSpc>
                <a:spcPct val="117500"/>
              </a:lnSpc>
              <a:spcBef>
                <a:spcPts val="60"/>
              </a:spcBef>
            </a:pPr>
            <a:r>
              <a:rPr sz="3100" spc="-60" dirty="0">
                <a:solidFill>
                  <a:srgbClr val="343434"/>
                </a:solidFill>
                <a:latin typeface="Calibri"/>
                <a:cs typeface="Calibri"/>
              </a:rPr>
              <a:t>This</a:t>
            </a:r>
            <a:r>
              <a:rPr sz="3100" spc="-114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3100" spc="-90" dirty="0">
                <a:solidFill>
                  <a:srgbClr val="313131"/>
                </a:solidFill>
                <a:latin typeface="Calibri"/>
                <a:cs typeface="Calibri"/>
              </a:rPr>
              <a:t>project</a:t>
            </a:r>
            <a:r>
              <a:rPr sz="3100" spc="-85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3100" spc="-65" dirty="0">
                <a:solidFill>
                  <a:srgbClr val="2F2F2F"/>
                </a:solidFill>
                <a:latin typeface="Calibri"/>
                <a:cs typeface="Calibri"/>
              </a:rPr>
              <a:t>successfully</a:t>
            </a:r>
            <a:r>
              <a:rPr sz="3100" spc="45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3100" spc="-114" dirty="0">
                <a:solidFill>
                  <a:srgbClr val="2D2D2D"/>
                </a:solidFill>
                <a:latin typeface="Calibri"/>
                <a:cs typeface="Calibri"/>
              </a:rPr>
              <a:t>demonstrates</a:t>
            </a:r>
            <a:r>
              <a:rPr sz="3100" spc="90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3100" spc="-50" dirty="0">
                <a:solidFill>
                  <a:srgbClr val="3A3A3A"/>
                </a:solidFill>
                <a:latin typeface="Calibri"/>
                <a:cs typeface="Calibri"/>
              </a:rPr>
              <a:t>a</a:t>
            </a:r>
            <a:r>
              <a:rPr sz="3100" spc="-280" dirty="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sz="3100" spc="-130" dirty="0">
                <a:solidFill>
                  <a:srgbClr val="363636"/>
                </a:solidFill>
                <a:latin typeface="Calibri"/>
                <a:cs typeface="Calibri"/>
              </a:rPr>
              <a:t>fog</a:t>
            </a:r>
            <a:r>
              <a:rPr sz="3100" spc="-220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3100" spc="-160" dirty="0">
                <a:solidFill>
                  <a:srgbClr val="343434"/>
                </a:solidFill>
                <a:latin typeface="Calibri"/>
                <a:cs typeface="Calibri"/>
              </a:rPr>
              <a:t>computing</a:t>
            </a:r>
            <a:r>
              <a:rPr sz="3100" spc="-15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3100" spc="-165" dirty="0">
                <a:solidFill>
                  <a:srgbClr val="383838"/>
                </a:solidFill>
                <a:latin typeface="Calibri"/>
                <a:cs typeface="Calibri"/>
              </a:rPr>
              <a:t>model</a:t>
            </a:r>
            <a:r>
              <a:rPr sz="3100" spc="-5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3100" spc="-125" dirty="0">
                <a:solidFill>
                  <a:srgbClr val="2F2F2F"/>
                </a:solidFill>
                <a:latin typeface="Calibri"/>
                <a:cs typeface="Calibri"/>
              </a:rPr>
              <a:t>that</a:t>
            </a:r>
            <a:r>
              <a:rPr sz="3100" spc="-165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3100" spc="-25" dirty="0">
                <a:solidFill>
                  <a:srgbClr val="363636"/>
                </a:solidFill>
                <a:latin typeface="Calibri"/>
                <a:cs typeface="Calibri"/>
              </a:rPr>
              <a:t>is </a:t>
            </a:r>
            <a:r>
              <a:rPr sz="3100" spc="-160" dirty="0">
                <a:solidFill>
                  <a:srgbClr val="363636"/>
                </a:solidFill>
                <a:latin typeface="Calibri"/>
                <a:cs typeface="Calibri"/>
              </a:rPr>
              <a:t>more</a:t>
            </a:r>
            <a:r>
              <a:rPr sz="3100" spc="-45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3100" spc="-100" dirty="0">
                <a:solidFill>
                  <a:srgbClr val="3B3B3B"/>
                </a:solidFill>
                <a:latin typeface="Calibri"/>
                <a:cs typeface="Calibri"/>
              </a:rPr>
              <a:t>efficient,</a:t>
            </a:r>
            <a:r>
              <a:rPr sz="3100" spc="-7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3100" spc="-75" dirty="0">
                <a:solidFill>
                  <a:srgbClr val="2D2D2D"/>
                </a:solidFill>
                <a:latin typeface="Calibri"/>
                <a:cs typeface="Calibri"/>
              </a:rPr>
              <a:t>reliable,</a:t>
            </a:r>
            <a:r>
              <a:rPr sz="3100" spc="-100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3100" spc="-185" dirty="0">
                <a:solidFill>
                  <a:srgbClr val="313131"/>
                </a:solidFill>
                <a:latin typeface="Calibri"/>
                <a:cs typeface="Calibri"/>
              </a:rPr>
              <a:t>and</a:t>
            </a:r>
            <a:r>
              <a:rPr sz="3100" spc="-114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3100" spc="-75" dirty="0">
                <a:solidFill>
                  <a:srgbClr val="343434"/>
                </a:solidFill>
                <a:latin typeface="Calibri"/>
                <a:cs typeface="Calibri"/>
              </a:rPr>
              <a:t>faster </a:t>
            </a:r>
            <a:r>
              <a:rPr sz="3100" spc="-140" dirty="0">
                <a:solidFill>
                  <a:srgbClr val="363636"/>
                </a:solidFill>
                <a:latin typeface="Calibri"/>
                <a:cs typeface="Calibri"/>
              </a:rPr>
              <a:t>than</a:t>
            </a:r>
            <a:r>
              <a:rPr sz="3100" spc="-190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3100" spc="-95" dirty="0">
                <a:solidFill>
                  <a:srgbClr val="313131"/>
                </a:solidFill>
                <a:latin typeface="Calibri"/>
                <a:cs typeface="Calibri"/>
              </a:rPr>
              <a:t>traditional</a:t>
            </a:r>
            <a:r>
              <a:rPr sz="3100" spc="50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3100" spc="-114" dirty="0">
                <a:solidFill>
                  <a:srgbClr val="333333"/>
                </a:solidFill>
                <a:latin typeface="Calibri"/>
                <a:cs typeface="Calibri"/>
              </a:rPr>
              <a:t>cloud-</a:t>
            </a:r>
            <a:r>
              <a:rPr sz="3100" spc="-85" dirty="0">
                <a:solidFill>
                  <a:srgbClr val="333333"/>
                </a:solidFill>
                <a:latin typeface="Calibri"/>
                <a:cs typeface="Calibri"/>
              </a:rPr>
              <a:t>only</a:t>
            </a:r>
            <a:r>
              <a:rPr sz="3100" spc="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3100" spc="-85" dirty="0">
                <a:solidFill>
                  <a:srgbClr val="343434"/>
                </a:solidFill>
                <a:latin typeface="Calibri"/>
                <a:cs typeface="Calibri"/>
              </a:rPr>
              <a:t>systems</a:t>
            </a:r>
            <a:r>
              <a:rPr sz="3100" spc="85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3100" spc="-25" dirty="0">
                <a:solidFill>
                  <a:srgbClr val="363636"/>
                </a:solidFill>
                <a:latin typeface="Calibri"/>
                <a:cs typeface="Calibri"/>
              </a:rPr>
              <a:t>for </a:t>
            </a:r>
            <a:r>
              <a:rPr sz="3100" spc="-100" dirty="0">
                <a:solidFill>
                  <a:srgbClr val="2B2B2B"/>
                </a:solidFill>
                <a:latin typeface="Calibri"/>
                <a:cs typeface="Calibri"/>
              </a:rPr>
              <a:t>security.</a:t>
            </a:r>
            <a:r>
              <a:rPr sz="3100" spc="-3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3100" spc="-114" dirty="0">
                <a:solidFill>
                  <a:srgbClr val="3B3B3B"/>
                </a:solidFill>
                <a:latin typeface="Calibri"/>
                <a:cs typeface="Calibri"/>
              </a:rPr>
              <a:t>Future</a:t>
            </a:r>
            <a:r>
              <a:rPr sz="3100" spc="-4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3100" spc="-85" dirty="0">
                <a:solidFill>
                  <a:srgbClr val="343434"/>
                </a:solidFill>
                <a:latin typeface="Calibri"/>
                <a:cs typeface="Calibri"/>
              </a:rPr>
              <a:t>work</a:t>
            </a:r>
            <a:r>
              <a:rPr sz="3100" spc="-25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3100" spc="-135" dirty="0">
                <a:solidFill>
                  <a:srgbClr val="383838"/>
                </a:solidFill>
                <a:latin typeface="Calibri"/>
                <a:cs typeface="Calibri"/>
              </a:rPr>
              <a:t>could</a:t>
            </a:r>
            <a:r>
              <a:rPr sz="3100" spc="-120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3100" spc="-110" dirty="0">
                <a:solidFill>
                  <a:srgbClr val="363636"/>
                </a:solidFill>
                <a:latin typeface="Calibri"/>
                <a:cs typeface="Calibri"/>
              </a:rPr>
              <a:t>include</a:t>
            </a:r>
            <a:r>
              <a:rPr sz="3100" spc="45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3100" spc="-140" dirty="0">
                <a:solidFill>
                  <a:srgbClr val="383838"/>
                </a:solidFill>
                <a:latin typeface="Calibri"/>
                <a:cs typeface="Calibri"/>
              </a:rPr>
              <a:t>adding</a:t>
            </a:r>
            <a:r>
              <a:rPr sz="3100" spc="-120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3100" spc="-50" dirty="0">
                <a:solidFill>
                  <a:srgbClr val="3B3B3B"/>
                </a:solidFill>
                <a:latin typeface="Calibri"/>
                <a:cs typeface="Calibri"/>
              </a:rPr>
              <a:t>a</a:t>
            </a:r>
            <a:r>
              <a:rPr sz="3100" spc="-29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3100" spc="-125" dirty="0">
                <a:solidFill>
                  <a:srgbClr val="363636"/>
                </a:solidFill>
                <a:latin typeface="Calibri"/>
                <a:cs typeface="Calibri"/>
              </a:rPr>
              <a:t>camera</a:t>
            </a:r>
            <a:r>
              <a:rPr sz="3100" spc="-110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3100" spc="-120" dirty="0">
                <a:solidFill>
                  <a:srgbClr val="363636"/>
                </a:solidFill>
                <a:latin typeface="Calibri"/>
                <a:cs typeface="Calibri"/>
              </a:rPr>
              <a:t>for</a:t>
            </a:r>
            <a:r>
              <a:rPr sz="3100" spc="-90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3100" spc="-105" dirty="0">
                <a:solidFill>
                  <a:srgbClr val="383838"/>
                </a:solidFill>
                <a:latin typeface="Calibri"/>
                <a:cs typeface="Calibri"/>
              </a:rPr>
              <a:t>local</a:t>
            </a:r>
            <a:r>
              <a:rPr sz="3100" spc="-45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3100" spc="-10" dirty="0">
                <a:solidFill>
                  <a:srgbClr val="313131"/>
                </a:solidFill>
                <a:latin typeface="Calibri"/>
                <a:cs typeface="Calibri"/>
              </a:rPr>
              <a:t>image </a:t>
            </a:r>
            <a:r>
              <a:rPr sz="3100" spc="-25" dirty="0">
                <a:solidFill>
                  <a:srgbClr val="2D2D2D"/>
                </a:solidFill>
                <a:latin typeface="Calibri"/>
                <a:cs typeface="Calibri"/>
              </a:rPr>
              <a:t>verification.</a:t>
            </a:r>
            <a:endParaRPr sz="3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1135786"/>
            <a:ext cx="20104100" cy="17276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378478" y="3618733"/>
            <a:ext cx="7213600" cy="181228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700" spc="305" dirty="0">
                <a:solidFill>
                  <a:srgbClr val="1A1A1A"/>
                </a:solidFill>
              </a:rPr>
              <a:t>Questions?</a:t>
            </a:r>
            <a:endParaRPr sz="11700"/>
          </a:p>
        </p:txBody>
      </p:sp>
      <p:sp>
        <p:nvSpPr>
          <p:cNvPr id="4" name="object 4"/>
          <p:cNvSpPr txBox="1"/>
          <p:nvPr/>
        </p:nvSpPr>
        <p:spPr>
          <a:xfrm>
            <a:off x="7111910" y="5996279"/>
            <a:ext cx="5856605" cy="15449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9525" algn="ctr">
              <a:lnSpc>
                <a:spcPct val="100000"/>
              </a:lnSpc>
              <a:spcBef>
                <a:spcPts val="135"/>
              </a:spcBef>
            </a:pPr>
            <a:r>
              <a:rPr sz="2800" dirty="0">
                <a:solidFill>
                  <a:srgbClr val="314259"/>
                </a:solidFill>
                <a:latin typeface="Times New Roman"/>
                <a:cs typeface="Times New Roman"/>
              </a:rPr>
              <a:t>Thank</a:t>
            </a:r>
            <a:r>
              <a:rPr sz="2800" spc="114" dirty="0">
                <a:solidFill>
                  <a:srgbClr val="314259"/>
                </a:solidFill>
                <a:latin typeface="Times New Roman"/>
                <a:cs typeface="Times New Roman"/>
              </a:rPr>
              <a:t> </a:t>
            </a:r>
            <a:r>
              <a:rPr sz="2800" spc="-20" dirty="0">
                <a:solidFill>
                  <a:srgbClr val="2F2F2F"/>
                </a:solidFill>
                <a:latin typeface="Times New Roman"/>
                <a:cs typeface="Times New Roman"/>
              </a:rPr>
              <a:t>you.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00"/>
              </a:spcBef>
            </a:pPr>
            <a:endParaRPr sz="2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950" spc="65" dirty="0">
                <a:solidFill>
                  <a:srgbClr val="1C1C1C"/>
                </a:solidFill>
                <a:latin typeface="Times New Roman"/>
                <a:cs typeface="Times New Roman"/>
              </a:rPr>
              <a:t>Fog-Enabled</a:t>
            </a:r>
            <a:r>
              <a:rPr sz="2950" spc="260" dirty="0">
                <a:solidFill>
                  <a:srgbClr val="1C1C1C"/>
                </a:solidFill>
                <a:latin typeface="Times New Roman"/>
                <a:cs typeface="Times New Roman"/>
              </a:rPr>
              <a:t> </a:t>
            </a:r>
            <a:r>
              <a:rPr sz="2950" spc="135" dirty="0">
                <a:solidFill>
                  <a:srgbClr val="1C344D"/>
                </a:solidFill>
                <a:latin typeface="Times New Roman"/>
                <a:cs typeface="Times New Roman"/>
              </a:rPr>
              <a:t>Smart</a:t>
            </a:r>
            <a:r>
              <a:rPr sz="2950" spc="175" dirty="0">
                <a:solidFill>
                  <a:srgbClr val="1C344D"/>
                </a:solidFill>
                <a:latin typeface="Times New Roman"/>
                <a:cs typeface="Times New Roman"/>
              </a:rPr>
              <a:t> </a:t>
            </a:r>
            <a:r>
              <a:rPr sz="2950" spc="70" dirty="0">
                <a:solidFill>
                  <a:srgbClr val="212121"/>
                </a:solidFill>
                <a:latin typeface="Times New Roman"/>
                <a:cs typeface="Times New Roman"/>
              </a:rPr>
              <a:t>Security</a:t>
            </a:r>
            <a:r>
              <a:rPr sz="2950" spc="140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sz="2950" spc="-10" dirty="0">
                <a:solidFill>
                  <a:srgbClr val="232323"/>
                </a:solidFill>
                <a:latin typeface="Times New Roman"/>
                <a:cs typeface="Times New Roman"/>
              </a:rPr>
              <a:t>System</a:t>
            </a:r>
            <a:endParaRPr sz="29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562</Words>
  <Application>Microsoft Office PowerPoint</Application>
  <PresentationFormat>Custom</PresentationFormat>
  <Paragraphs>53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 MT</vt:lpstr>
      <vt:lpstr>Calibri</vt:lpstr>
      <vt:lpstr>Times New Roman</vt:lpstr>
      <vt:lpstr>Office Theme</vt:lpstr>
      <vt:lpstr>Fog-EnabIed Smart Security</vt:lpstr>
      <vt:lpstr>The Problem</vt:lpstr>
      <vt:lpstr>Limitations of Cloud-Only IoT</vt:lpstr>
      <vt:lpstr>PowerPoint Presentation</vt:lpstr>
      <vt:lpstr>What is Fog / Edge Computing?</vt:lpstr>
      <vt:lpstr>Project Methodology &amp; Tools</vt:lpstr>
      <vt:lpstr>System Architecture</vt:lpstr>
      <vt:lpstr>Implementation: Simulation &amp; Dashboard</vt:lpstr>
      <vt:lpstr>Key Result: Efficiency</vt:lpstr>
      <vt:lpstr>Performance: Cloud vs. Fog</vt:lpstr>
      <vt:lpstr>Conclusion &amp; Future Work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cp:lastModifiedBy>NIRUP KOYILADA</cp:lastModifiedBy>
  <cp:revision>1</cp:revision>
  <dcterms:created xsi:type="dcterms:W3CDTF">2025-11-18T04:11:15Z</dcterms:created>
  <dcterms:modified xsi:type="dcterms:W3CDTF">2025-11-18T04:15:18Z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2025-11-17T00:00:00Z</vt:filetime>
  </property>
  <property fmtid="{D5CDD505-2E9C-101B-9397-08002B2CF9AE}" pid="3" name="LastSaved">
    <vt:filetime>2025-11-18T00:00:00Z</vt:filetime>
  </property>
</Properties>
</file>